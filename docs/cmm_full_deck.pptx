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9" r:id="rId2"/>
  </p:sldMasterIdLst>
  <p:notesMasterIdLst>
    <p:notesMasterId r:id="rId1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7"/>
    <p:sldId id="266" r:id="rId6"/>
    <p:sldId id="267" r:id="rId5"/>
    <p:sldId id="268" r:id="rId4"/>
    <p:sldId id="269" r:id="rId3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780" autoAdjust="0"/>
    <p:restoredTop sz="74800" autoAdjust="0"/>
  </p:normalViewPr>
  <p:slideViewPr>
    <p:cSldViewPr snapToGrid="0">
      <p:cViewPr>
        <p:scale>
          <a:sx n="54" d="100"/>
          <a:sy n="54" d="100"/>
        </p:scale>
        <p:origin x="1358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4.xml"/><Relationship Id="rId4" Type="http://schemas.openxmlformats.org/officeDocument/2006/relationships/slide" Target="slides/slide13.xml"/><Relationship Id="rId5" Type="http://schemas.openxmlformats.org/officeDocument/2006/relationships/slide" Target="slides/slide12.xml"/><Relationship Id="rId6" Type="http://schemas.openxmlformats.org/officeDocument/2006/relationships/slide" Target="slides/slide11.xml"/><Relationship Id="rId7" Type="http://schemas.openxmlformats.org/officeDocument/2006/relationships/slide" Target="slides/slide10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722C74-F5DE-4F85-9AFB-7F7584DC1239}" type="datetimeFigureOut">
              <a:rPr lang="zh-CN" altLang="en-US" smtClean="0"/>
              <a:t>2025/8/5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C068EB-61C5-4F52-BABD-7D11F12872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8549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5" Type="http://schemas.openxmlformats.org/officeDocument/2006/relationships/image" Target="../media/image3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2.jpeg"/><Relationship Id="rId6" Type="http://schemas.openxmlformats.org/officeDocument/2006/relationships/image" Target="../media/image3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25401" y="114300"/>
            <a:ext cx="2806700" cy="79057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lnSpc>
                <a:spcPct val="80000"/>
              </a:lnSpc>
              <a:spcBef>
                <a:spcPct val="50000"/>
              </a:spcBef>
              <a:buSzPct val="75000"/>
              <a:buChar char="•"/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lnSpc>
                <a:spcPct val="80000"/>
              </a:lnSpc>
              <a:spcBef>
                <a:spcPct val="50000"/>
              </a:spcBef>
              <a:buSzPct val="75000"/>
              <a:buChar char="•"/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lnSpc>
                <a:spcPct val="80000"/>
              </a:lnSpc>
              <a:spcBef>
                <a:spcPct val="50000"/>
              </a:spcBef>
              <a:buSzPct val="75000"/>
              <a:buChar char="•"/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lnSpc>
                <a:spcPct val="80000"/>
              </a:lnSpc>
              <a:spcBef>
                <a:spcPct val="50000"/>
              </a:spcBef>
              <a:buSzPct val="75000"/>
              <a:buChar char="•"/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lnSpc>
                <a:spcPct val="80000"/>
              </a:lnSpc>
              <a:spcBef>
                <a:spcPct val="50000"/>
              </a:spcBef>
              <a:buSzPct val="75000"/>
              <a:buChar char="•"/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SzPct val="75000"/>
              <a:buChar char="•"/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SzPct val="75000"/>
              <a:buChar char="•"/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SzPct val="75000"/>
              <a:buChar char="•"/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SzPct val="75000"/>
              <a:buChar char="•"/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/>
            </a:pPr>
            <a:endParaRPr lang="en-US" altLang="en-US" sz="2000" b="1" i="1">
              <a:latin typeface="Arial" pitchFamily="34" charset="0"/>
              <a:ea typeface="ＭＳ Ｐゴシック"/>
              <a:cs typeface="ＭＳ Ｐゴシック"/>
            </a:endParaRPr>
          </a:p>
        </p:txBody>
      </p:sp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B6BC7CFF-1EFF-433B-83E3-2D31A43EE7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43323" y="1412776"/>
            <a:ext cx="10105354" cy="4752528"/>
          </a:xfrm>
        </p:spPr>
        <p:txBody>
          <a:bodyPr/>
          <a:lstStyle>
            <a:lvl1pPr marL="0" indent="0">
              <a:buNone/>
              <a:defRPr sz="4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A817EE-32D8-44DA-92FE-176FDBA9CF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301" y="162494"/>
            <a:ext cx="3680467" cy="960122"/>
          </a:xfrm>
          <a:prstGeom prst="rect">
            <a:avLst/>
          </a:prstGeom>
        </p:spPr>
      </p:pic>
      <p:grpSp>
        <p:nvGrpSpPr>
          <p:cNvPr id="9" name="Group 5">
            <a:extLst>
              <a:ext uri="{FF2B5EF4-FFF2-40B4-BE49-F238E27FC236}">
                <a16:creationId xmlns:a16="http://schemas.microsoft.com/office/drawing/2014/main" id="{A67C55A2-6321-4EBC-82D8-AD3326F7F697}"/>
              </a:ext>
            </a:extLst>
          </p:cNvPr>
          <p:cNvGrpSpPr>
            <a:grpSpLocks/>
          </p:cNvGrpSpPr>
          <p:nvPr/>
        </p:nvGrpSpPr>
        <p:grpSpPr bwMode="auto">
          <a:xfrm>
            <a:off x="7897767" y="200451"/>
            <a:ext cx="4174897" cy="884207"/>
            <a:chOff x="0" y="0"/>
            <a:chExt cx="2902937" cy="625068"/>
          </a:xfrm>
        </p:grpSpPr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D8504BC0-BE68-4499-9BEB-32305F9CAB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1" y="0"/>
              <a:ext cx="1439565" cy="4870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3">
              <a:extLst>
                <a:ext uri="{FF2B5EF4-FFF2-40B4-BE49-F238E27FC236}">
                  <a16:creationId xmlns:a16="http://schemas.microsoft.com/office/drawing/2014/main" id="{A65713DA-3024-4461-B20D-7A502CE0B5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3850" y="1587"/>
              <a:ext cx="1439564" cy="47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2" name="Group 8">
              <a:extLst>
                <a:ext uri="{FF2B5EF4-FFF2-40B4-BE49-F238E27FC236}">
                  <a16:creationId xmlns:a16="http://schemas.microsoft.com/office/drawing/2014/main" id="{8E98FA9E-4553-4D36-A1FE-4DA67A0BD0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480700"/>
              <a:ext cx="2902937" cy="144368"/>
              <a:chOff x="0" y="0"/>
              <a:chExt cx="2902937" cy="144368"/>
            </a:xfrm>
          </p:grpSpPr>
          <p:sp>
            <p:nvSpPr>
              <p:cNvPr id="13" name="Text Box 15">
                <a:extLst>
                  <a:ext uri="{FF2B5EF4-FFF2-40B4-BE49-F238E27FC236}">
                    <a16:creationId xmlns:a16="http://schemas.microsoft.com/office/drawing/2014/main" id="{FE217573-5DBC-44C2-BD1B-AF78458ABC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726925" cy="144368"/>
              </a:xfrm>
              <a:prstGeom prst="rect">
                <a:avLst/>
              </a:prstGeom>
              <a:solidFill>
                <a:srgbClr val="8F11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900">
                    <a:solidFill>
                      <a:schemeClr val="bg1"/>
                    </a:solidFill>
                    <a:latin typeface="Arial" panose="020B0604020202020204" pitchFamily="34" charset="0"/>
                  </a:rPr>
                  <a:t>1896</a:t>
                </a:r>
              </a:p>
            </p:txBody>
          </p:sp>
          <p:sp>
            <p:nvSpPr>
              <p:cNvPr id="14" name="Text Box 16">
                <a:extLst>
                  <a:ext uri="{FF2B5EF4-FFF2-40B4-BE49-F238E27FC236}">
                    <a16:creationId xmlns:a16="http://schemas.microsoft.com/office/drawing/2014/main" id="{B963FF5F-A0D4-437E-B8F4-8F53BB9B10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2163" y="0"/>
                <a:ext cx="726925" cy="144368"/>
              </a:xfrm>
              <a:prstGeom prst="rect">
                <a:avLst/>
              </a:prstGeom>
              <a:solidFill>
                <a:srgbClr val="8F11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900">
                    <a:solidFill>
                      <a:schemeClr val="bg1"/>
                    </a:solidFill>
                    <a:latin typeface="Arial" panose="020B0604020202020204" pitchFamily="34" charset="0"/>
                  </a:rPr>
                  <a:t>1920</a:t>
                </a:r>
              </a:p>
            </p:txBody>
          </p:sp>
          <p:sp>
            <p:nvSpPr>
              <p:cNvPr id="15" name="Text Box 17">
                <a:extLst>
                  <a:ext uri="{FF2B5EF4-FFF2-40B4-BE49-F238E27FC236}">
                    <a16:creationId xmlns:a16="http://schemas.microsoft.com/office/drawing/2014/main" id="{8E11AA32-FEE4-4E7D-BDFE-E38D9DA49E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9087" y="0"/>
                <a:ext cx="726925" cy="144368"/>
              </a:xfrm>
              <a:prstGeom prst="rect">
                <a:avLst/>
              </a:prstGeom>
              <a:solidFill>
                <a:srgbClr val="8F11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900">
                    <a:solidFill>
                      <a:schemeClr val="bg1"/>
                    </a:solidFill>
                    <a:latin typeface="Arial" panose="020B0604020202020204" pitchFamily="34" charset="0"/>
                  </a:rPr>
                  <a:t>1987</a:t>
                </a:r>
              </a:p>
            </p:txBody>
          </p:sp>
          <p:sp>
            <p:nvSpPr>
              <p:cNvPr id="16" name="Text Box 18">
                <a:extLst>
                  <a:ext uri="{FF2B5EF4-FFF2-40B4-BE49-F238E27FC236}">
                    <a16:creationId xmlns:a16="http://schemas.microsoft.com/office/drawing/2014/main" id="{08428D61-E57C-439A-A81D-B59131FB4F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76012" y="0"/>
                <a:ext cx="726925" cy="144368"/>
              </a:xfrm>
              <a:prstGeom prst="rect">
                <a:avLst/>
              </a:prstGeom>
              <a:solidFill>
                <a:srgbClr val="8F11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900">
                    <a:solidFill>
                      <a:schemeClr val="bg1"/>
                    </a:solidFill>
                    <a:latin typeface="Arial" panose="020B0604020202020204" pitchFamily="34" charset="0"/>
                  </a:rPr>
                  <a:t>2006</a:t>
                </a:r>
              </a:p>
            </p:txBody>
          </p:sp>
        </p:grp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1F0754F-C210-4C33-B59E-F6FE90E9455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366" y="5070515"/>
            <a:ext cx="1716296" cy="1716944"/>
          </a:xfrm>
          <a:prstGeom prst="rect">
            <a:avLst/>
          </a:prstGeom>
        </p:spPr>
      </p:pic>
      <p:pic>
        <p:nvPicPr>
          <p:cNvPr id="18" name="Picture 3">
            <a:extLst>
              <a:ext uri="{FF2B5EF4-FFF2-40B4-BE49-F238E27FC236}">
                <a16:creationId xmlns:a16="http://schemas.microsoft.com/office/drawing/2014/main" id="{5E9BC07B-8C53-4DFD-BAFC-763779AEA0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6694" y="5755253"/>
            <a:ext cx="2579322" cy="820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54293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03940"/>
            <a:ext cx="10972800" cy="5316920"/>
          </a:xfrm>
        </p:spPr>
        <p:txBody>
          <a:bodyPr/>
          <a:lstStyle>
            <a:lvl1pPr>
              <a:defRPr sz="3000"/>
            </a:lvl1pPr>
            <a:lvl2pPr>
              <a:defRPr sz="22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316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5760" y="0"/>
            <a:ext cx="8030344" cy="105273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511300"/>
            <a:ext cx="5384800" cy="4902200"/>
          </a:xfrm>
        </p:spPr>
        <p:txBody>
          <a:bodyPr/>
          <a:lstStyle>
            <a:lvl1pPr>
              <a:defRPr sz="3000"/>
            </a:lvl1pPr>
            <a:lvl2pPr>
              <a:defRPr sz="221900"/>
            </a:lvl2pPr>
            <a:lvl3pPr>
              <a:defRPr sz="2200"/>
            </a:lvl3pPr>
            <a:lvl4pPr>
              <a:defRPr sz="1900"/>
            </a:lvl4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511300"/>
            <a:ext cx="5384800" cy="4902200"/>
          </a:xfrm>
        </p:spPr>
        <p:txBody>
          <a:bodyPr/>
          <a:lstStyle>
            <a:lvl1pPr>
              <a:defRPr sz="3000"/>
            </a:lvl1pPr>
            <a:lvl2pPr>
              <a:defRPr sz="2200"/>
            </a:lvl2pPr>
            <a:lvl3pPr>
              <a:defRPr sz="1900"/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97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1">
            <a:extLst>
              <a:ext uri="{FF2B5EF4-FFF2-40B4-BE49-F238E27FC236}">
                <a16:creationId xmlns:a16="http://schemas.microsoft.com/office/drawing/2014/main" id="{C83A1C55-A00C-4A84-938C-D74A945AC2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4486" y="2420888"/>
            <a:ext cx="10563027" cy="2664295"/>
          </a:xfrm>
        </p:spPr>
        <p:txBody>
          <a:bodyPr/>
          <a:lstStyle>
            <a:lvl1pPr marL="0" indent="0">
              <a:buNone/>
              <a:defRPr sz="4000" b="1">
                <a:latin typeface="+mj-lt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521371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3">
            <a:extLst>
              <a:ext uri="{FF2B5EF4-FFF2-40B4-BE49-F238E27FC236}">
                <a16:creationId xmlns:a16="http://schemas.microsoft.com/office/drawing/2014/main" id="{32BF2B49-3465-4D25-810C-B8D3D1235F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2404" y="5874763"/>
            <a:ext cx="2579322" cy="820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25401" y="114300"/>
            <a:ext cx="2806700" cy="79057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lnSpc>
                <a:spcPct val="80000"/>
              </a:lnSpc>
              <a:spcBef>
                <a:spcPct val="50000"/>
              </a:spcBef>
              <a:buSzPct val="75000"/>
              <a:buChar char="•"/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lnSpc>
                <a:spcPct val="80000"/>
              </a:lnSpc>
              <a:spcBef>
                <a:spcPct val="50000"/>
              </a:spcBef>
              <a:buSzPct val="75000"/>
              <a:buChar char="•"/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lnSpc>
                <a:spcPct val="80000"/>
              </a:lnSpc>
              <a:spcBef>
                <a:spcPct val="50000"/>
              </a:spcBef>
              <a:buSzPct val="75000"/>
              <a:buChar char="•"/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lnSpc>
                <a:spcPct val="80000"/>
              </a:lnSpc>
              <a:spcBef>
                <a:spcPct val="50000"/>
              </a:spcBef>
              <a:buSzPct val="75000"/>
              <a:buChar char="•"/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lnSpc>
                <a:spcPct val="80000"/>
              </a:lnSpc>
              <a:spcBef>
                <a:spcPct val="50000"/>
              </a:spcBef>
              <a:buSzPct val="75000"/>
              <a:buChar char="•"/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SzPct val="75000"/>
              <a:buChar char="•"/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SzPct val="75000"/>
              <a:buChar char="•"/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SzPct val="75000"/>
              <a:buChar char="•"/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SzPct val="75000"/>
              <a:buChar char="•"/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/>
            </a:pPr>
            <a:endParaRPr lang="en-US" altLang="en-US" sz="2000" b="1" i="1">
              <a:latin typeface="Arial" pitchFamily="34" charset="0"/>
              <a:ea typeface="ＭＳ Ｐゴシック"/>
              <a:cs typeface="ＭＳ Ｐゴシック"/>
            </a:endParaRPr>
          </a:p>
        </p:txBody>
      </p:sp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B6BC7CFF-1EFF-433B-83E3-2D31A43EE7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43323" y="1412776"/>
            <a:ext cx="10105354" cy="4752528"/>
          </a:xfrm>
        </p:spPr>
        <p:txBody>
          <a:bodyPr/>
          <a:lstStyle>
            <a:lvl1pPr marL="0" indent="0">
              <a:buNone/>
              <a:defRPr sz="4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A817EE-32D8-44DA-92FE-176FDBA9CF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301" y="162494"/>
            <a:ext cx="3680467" cy="960122"/>
          </a:xfrm>
          <a:prstGeom prst="rect">
            <a:avLst/>
          </a:prstGeom>
        </p:spPr>
      </p:pic>
      <p:grpSp>
        <p:nvGrpSpPr>
          <p:cNvPr id="9" name="Group 5">
            <a:extLst>
              <a:ext uri="{FF2B5EF4-FFF2-40B4-BE49-F238E27FC236}">
                <a16:creationId xmlns:a16="http://schemas.microsoft.com/office/drawing/2014/main" id="{A67C55A2-6321-4EBC-82D8-AD3326F7F697}"/>
              </a:ext>
            </a:extLst>
          </p:cNvPr>
          <p:cNvGrpSpPr>
            <a:grpSpLocks/>
          </p:cNvGrpSpPr>
          <p:nvPr/>
        </p:nvGrpSpPr>
        <p:grpSpPr bwMode="auto">
          <a:xfrm>
            <a:off x="7897767" y="200451"/>
            <a:ext cx="4174897" cy="884207"/>
            <a:chOff x="0" y="0"/>
            <a:chExt cx="2902937" cy="625068"/>
          </a:xfrm>
        </p:grpSpPr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D8504BC0-BE68-4499-9BEB-32305F9CAB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1" y="0"/>
              <a:ext cx="1439565" cy="4870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3">
              <a:extLst>
                <a:ext uri="{FF2B5EF4-FFF2-40B4-BE49-F238E27FC236}">
                  <a16:creationId xmlns:a16="http://schemas.microsoft.com/office/drawing/2014/main" id="{A65713DA-3024-4461-B20D-7A502CE0B5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3850" y="1587"/>
              <a:ext cx="1439564" cy="47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2" name="Group 8">
              <a:extLst>
                <a:ext uri="{FF2B5EF4-FFF2-40B4-BE49-F238E27FC236}">
                  <a16:creationId xmlns:a16="http://schemas.microsoft.com/office/drawing/2014/main" id="{8E98FA9E-4553-4D36-A1FE-4DA67A0BD0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480700"/>
              <a:ext cx="2902937" cy="144368"/>
              <a:chOff x="0" y="0"/>
              <a:chExt cx="2902937" cy="144368"/>
            </a:xfrm>
          </p:grpSpPr>
          <p:sp>
            <p:nvSpPr>
              <p:cNvPr id="13" name="Text Box 15">
                <a:extLst>
                  <a:ext uri="{FF2B5EF4-FFF2-40B4-BE49-F238E27FC236}">
                    <a16:creationId xmlns:a16="http://schemas.microsoft.com/office/drawing/2014/main" id="{FE217573-5DBC-44C2-BD1B-AF78458ABC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726925" cy="144368"/>
              </a:xfrm>
              <a:prstGeom prst="rect">
                <a:avLst/>
              </a:prstGeom>
              <a:solidFill>
                <a:srgbClr val="8F11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900">
                    <a:solidFill>
                      <a:schemeClr val="bg1"/>
                    </a:solidFill>
                    <a:latin typeface="Arial" panose="020B0604020202020204" pitchFamily="34" charset="0"/>
                  </a:rPr>
                  <a:t>1896</a:t>
                </a:r>
              </a:p>
            </p:txBody>
          </p:sp>
          <p:sp>
            <p:nvSpPr>
              <p:cNvPr id="14" name="Text Box 16">
                <a:extLst>
                  <a:ext uri="{FF2B5EF4-FFF2-40B4-BE49-F238E27FC236}">
                    <a16:creationId xmlns:a16="http://schemas.microsoft.com/office/drawing/2014/main" id="{B963FF5F-A0D4-437E-B8F4-8F53BB9B10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2163" y="0"/>
                <a:ext cx="726925" cy="144368"/>
              </a:xfrm>
              <a:prstGeom prst="rect">
                <a:avLst/>
              </a:prstGeom>
              <a:solidFill>
                <a:srgbClr val="8F11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900">
                    <a:solidFill>
                      <a:schemeClr val="bg1"/>
                    </a:solidFill>
                    <a:latin typeface="Arial" panose="020B0604020202020204" pitchFamily="34" charset="0"/>
                  </a:rPr>
                  <a:t>1920</a:t>
                </a:r>
              </a:p>
            </p:txBody>
          </p:sp>
          <p:sp>
            <p:nvSpPr>
              <p:cNvPr id="15" name="Text Box 17">
                <a:extLst>
                  <a:ext uri="{FF2B5EF4-FFF2-40B4-BE49-F238E27FC236}">
                    <a16:creationId xmlns:a16="http://schemas.microsoft.com/office/drawing/2014/main" id="{8E11AA32-FEE4-4E7D-BDFE-E38D9DA49E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9087" y="0"/>
                <a:ext cx="726925" cy="144368"/>
              </a:xfrm>
              <a:prstGeom prst="rect">
                <a:avLst/>
              </a:prstGeom>
              <a:solidFill>
                <a:srgbClr val="8F11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900">
                    <a:solidFill>
                      <a:schemeClr val="bg1"/>
                    </a:solidFill>
                    <a:latin typeface="Arial" panose="020B0604020202020204" pitchFamily="34" charset="0"/>
                  </a:rPr>
                  <a:t>1987</a:t>
                </a:r>
              </a:p>
            </p:txBody>
          </p:sp>
          <p:sp>
            <p:nvSpPr>
              <p:cNvPr id="16" name="Text Box 18">
                <a:extLst>
                  <a:ext uri="{FF2B5EF4-FFF2-40B4-BE49-F238E27FC236}">
                    <a16:creationId xmlns:a16="http://schemas.microsoft.com/office/drawing/2014/main" id="{08428D61-E57C-439A-A81D-B59131FB4F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76012" y="0"/>
                <a:ext cx="726925" cy="144368"/>
              </a:xfrm>
              <a:prstGeom prst="rect">
                <a:avLst/>
              </a:prstGeom>
              <a:solidFill>
                <a:srgbClr val="8F11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900">
                    <a:solidFill>
                      <a:schemeClr val="bg1"/>
                    </a:solidFill>
                    <a:latin typeface="Arial" panose="020B0604020202020204" pitchFamily="34" charset="0"/>
                  </a:rPr>
                  <a:t>2006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37053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3" descr="蓝色系校徽标准版.png">
            <a:extLst>
              <a:ext uri="{FF2B5EF4-FFF2-40B4-BE49-F238E27FC236}">
                <a16:creationId xmlns:a16="http://schemas.microsoft.com/office/drawing/2014/main" id="{0D6506B7-9D43-4C83-8AE0-B7C6733BC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3950" y="1320203"/>
            <a:ext cx="4864100" cy="487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3">
            <a:extLst>
              <a:ext uri="{FF2B5EF4-FFF2-40B4-BE49-F238E27FC236}">
                <a16:creationId xmlns:a16="http://schemas.microsoft.com/office/drawing/2014/main" id="{32BF2B49-3465-4D25-810C-B8D3D1235F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2404" y="5874763"/>
            <a:ext cx="2579322" cy="820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25401" y="114300"/>
            <a:ext cx="2806700" cy="79057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lnSpc>
                <a:spcPct val="80000"/>
              </a:lnSpc>
              <a:spcBef>
                <a:spcPct val="50000"/>
              </a:spcBef>
              <a:buSzPct val="75000"/>
              <a:buChar char="•"/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lnSpc>
                <a:spcPct val="80000"/>
              </a:lnSpc>
              <a:spcBef>
                <a:spcPct val="50000"/>
              </a:spcBef>
              <a:buSzPct val="75000"/>
              <a:buChar char="•"/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lnSpc>
                <a:spcPct val="80000"/>
              </a:lnSpc>
              <a:spcBef>
                <a:spcPct val="50000"/>
              </a:spcBef>
              <a:buSzPct val="75000"/>
              <a:buChar char="•"/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lnSpc>
                <a:spcPct val="80000"/>
              </a:lnSpc>
              <a:spcBef>
                <a:spcPct val="50000"/>
              </a:spcBef>
              <a:buSzPct val="75000"/>
              <a:buChar char="•"/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lnSpc>
                <a:spcPct val="80000"/>
              </a:lnSpc>
              <a:spcBef>
                <a:spcPct val="50000"/>
              </a:spcBef>
              <a:buSzPct val="75000"/>
              <a:buChar char="•"/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SzPct val="75000"/>
              <a:buChar char="•"/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SzPct val="75000"/>
              <a:buChar char="•"/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SzPct val="75000"/>
              <a:buChar char="•"/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SzPct val="75000"/>
              <a:buChar char="•"/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/>
            </a:pPr>
            <a:endParaRPr lang="en-US" altLang="en-US" sz="2000" b="1" i="1">
              <a:latin typeface="Arial" pitchFamily="34" charset="0"/>
              <a:ea typeface="ＭＳ Ｐゴシック"/>
              <a:cs typeface="ＭＳ Ｐゴシック"/>
            </a:endParaRPr>
          </a:p>
        </p:txBody>
      </p:sp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B6BC7CFF-1EFF-433B-83E3-2D31A43EE7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43323" y="1412776"/>
            <a:ext cx="10105354" cy="4752528"/>
          </a:xfrm>
        </p:spPr>
        <p:txBody>
          <a:bodyPr/>
          <a:lstStyle>
            <a:lvl1pPr marL="0" indent="0">
              <a:buNone/>
              <a:defRPr sz="4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A817EE-32D8-44DA-92FE-176FDBA9CF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301" y="162494"/>
            <a:ext cx="3680467" cy="960122"/>
          </a:xfrm>
          <a:prstGeom prst="rect">
            <a:avLst/>
          </a:prstGeom>
        </p:spPr>
      </p:pic>
      <p:grpSp>
        <p:nvGrpSpPr>
          <p:cNvPr id="9" name="Group 5">
            <a:extLst>
              <a:ext uri="{FF2B5EF4-FFF2-40B4-BE49-F238E27FC236}">
                <a16:creationId xmlns:a16="http://schemas.microsoft.com/office/drawing/2014/main" id="{A67C55A2-6321-4EBC-82D8-AD3326F7F697}"/>
              </a:ext>
            </a:extLst>
          </p:cNvPr>
          <p:cNvGrpSpPr>
            <a:grpSpLocks/>
          </p:cNvGrpSpPr>
          <p:nvPr/>
        </p:nvGrpSpPr>
        <p:grpSpPr bwMode="auto">
          <a:xfrm>
            <a:off x="7897767" y="200451"/>
            <a:ext cx="4174897" cy="884207"/>
            <a:chOff x="0" y="0"/>
            <a:chExt cx="2902937" cy="625068"/>
          </a:xfrm>
        </p:grpSpPr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D8504BC0-BE68-4499-9BEB-32305F9CAB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1" y="0"/>
              <a:ext cx="1439565" cy="4870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3">
              <a:extLst>
                <a:ext uri="{FF2B5EF4-FFF2-40B4-BE49-F238E27FC236}">
                  <a16:creationId xmlns:a16="http://schemas.microsoft.com/office/drawing/2014/main" id="{A65713DA-3024-4461-B20D-7A502CE0B5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3850" y="1587"/>
              <a:ext cx="1439564" cy="47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2" name="Group 8">
              <a:extLst>
                <a:ext uri="{FF2B5EF4-FFF2-40B4-BE49-F238E27FC236}">
                  <a16:creationId xmlns:a16="http://schemas.microsoft.com/office/drawing/2014/main" id="{8E98FA9E-4553-4D36-A1FE-4DA67A0BD0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480700"/>
              <a:ext cx="2902937" cy="144368"/>
              <a:chOff x="0" y="0"/>
              <a:chExt cx="2902937" cy="144368"/>
            </a:xfrm>
          </p:grpSpPr>
          <p:sp>
            <p:nvSpPr>
              <p:cNvPr id="13" name="Text Box 15">
                <a:extLst>
                  <a:ext uri="{FF2B5EF4-FFF2-40B4-BE49-F238E27FC236}">
                    <a16:creationId xmlns:a16="http://schemas.microsoft.com/office/drawing/2014/main" id="{FE217573-5DBC-44C2-BD1B-AF78458ABC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726925" cy="144368"/>
              </a:xfrm>
              <a:prstGeom prst="rect">
                <a:avLst/>
              </a:prstGeom>
              <a:solidFill>
                <a:srgbClr val="8F11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900">
                    <a:solidFill>
                      <a:schemeClr val="bg1"/>
                    </a:solidFill>
                    <a:latin typeface="Arial" panose="020B0604020202020204" pitchFamily="34" charset="0"/>
                  </a:rPr>
                  <a:t>1896</a:t>
                </a:r>
              </a:p>
            </p:txBody>
          </p:sp>
          <p:sp>
            <p:nvSpPr>
              <p:cNvPr id="14" name="Text Box 16">
                <a:extLst>
                  <a:ext uri="{FF2B5EF4-FFF2-40B4-BE49-F238E27FC236}">
                    <a16:creationId xmlns:a16="http://schemas.microsoft.com/office/drawing/2014/main" id="{B963FF5F-A0D4-437E-B8F4-8F53BB9B10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2163" y="0"/>
                <a:ext cx="726925" cy="144368"/>
              </a:xfrm>
              <a:prstGeom prst="rect">
                <a:avLst/>
              </a:prstGeom>
              <a:solidFill>
                <a:srgbClr val="8F11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900">
                    <a:solidFill>
                      <a:schemeClr val="bg1"/>
                    </a:solidFill>
                    <a:latin typeface="Arial" panose="020B0604020202020204" pitchFamily="34" charset="0"/>
                  </a:rPr>
                  <a:t>1920</a:t>
                </a:r>
              </a:p>
            </p:txBody>
          </p:sp>
          <p:sp>
            <p:nvSpPr>
              <p:cNvPr id="15" name="Text Box 17">
                <a:extLst>
                  <a:ext uri="{FF2B5EF4-FFF2-40B4-BE49-F238E27FC236}">
                    <a16:creationId xmlns:a16="http://schemas.microsoft.com/office/drawing/2014/main" id="{8E11AA32-FEE4-4E7D-BDFE-E38D9DA49E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9087" y="0"/>
                <a:ext cx="726925" cy="144368"/>
              </a:xfrm>
              <a:prstGeom prst="rect">
                <a:avLst/>
              </a:prstGeom>
              <a:solidFill>
                <a:srgbClr val="8F11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900">
                    <a:solidFill>
                      <a:schemeClr val="bg1"/>
                    </a:solidFill>
                    <a:latin typeface="Arial" panose="020B0604020202020204" pitchFamily="34" charset="0"/>
                  </a:rPr>
                  <a:t>1987</a:t>
                </a:r>
              </a:p>
            </p:txBody>
          </p:sp>
          <p:sp>
            <p:nvSpPr>
              <p:cNvPr id="16" name="Text Box 18">
                <a:extLst>
                  <a:ext uri="{FF2B5EF4-FFF2-40B4-BE49-F238E27FC236}">
                    <a16:creationId xmlns:a16="http://schemas.microsoft.com/office/drawing/2014/main" id="{08428D61-E57C-439A-A81D-B59131FB4F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76012" y="0"/>
                <a:ext cx="726925" cy="144368"/>
              </a:xfrm>
              <a:prstGeom prst="rect">
                <a:avLst/>
              </a:prstGeom>
              <a:solidFill>
                <a:srgbClr val="8F11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900">
                    <a:solidFill>
                      <a:schemeClr val="bg1"/>
                    </a:solidFill>
                    <a:latin typeface="Arial" panose="020B0604020202020204" pitchFamily="34" charset="0"/>
                  </a:rPr>
                  <a:t>2006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73986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0C390-0922-4920-90A1-EE4347B48C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B62F39-00E4-4185-9F9B-69A9EBFDF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94427-23CB-487B-B49F-27DBB81FC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6AD96-60A5-420B-BCCF-E7AA7B44633B}" type="datetimeFigureOut">
              <a:rPr lang="zh-CN" altLang="en-US" smtClean="0"/>
              <a:t>2025/8/5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CABE2-CED3-4BF4-8899-6C02A1C91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04171-A6AD-4D4B-91D7-5A4DEA6F3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751B3-1684-4503-96C6-F912C21C17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2138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4E50A58-8B69-F2A1-A23E-2C6225296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6AD96-60A5-420B-BCCF-E7AA7B44633B}" type="datetimeFigureOut">
              <a:rPr lang="zh-CN" altLang="en-US" smtClean="0"/>
              <a:t>2025/8/5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82DF5BC-53E9-F2E0-6C05-A96D8167E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BE46E3-8795-3589-47C0-186542C41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751B3-1684-4503-96C6-F912C21C17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0923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25401" y="114300"/>
            <a:ext cx="2806700" cy="79057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lnSpc>
                <a:spcPct val="80000"/>
              </a:lnSpc>
              <a:spcBef>
                <a:spcPct val="50000"/>
              </a:spcBef>
              <a:buSzPct val="75000"/>
              <a:buChar char="•"/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lnSpc>
                <a:spcPct val="80000"/>
              </a:lnSpc>
              <a:spcBef>
                <a:spcPct val="50000"/>
              </a:spcBef>
              <a:buSzPct val="75000"/>
              <a:buChar char="•"/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lnSpc>
                <a:spcPct val="80000"/>
              </a:lnSpc>
              <a:spcBef>
                <a:spcPct val="50000"/>
              </a:spcBef>
              <a:buSzPct val="75000"/>
              <a:buChar char="•"/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lnSpc>
                <a:spcPct val="80000"/>
              </a:lnSpc>
              <a:spcBef>
                <a:spcPct val="50000"/>
              </a:spcBef>
              <a:buSzPct val="75000"/>
              <a:buChar char="•"/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lnSpc>
                <a:spcPct val="80000"/>
              </a:lnSpc>
              <a:spcBef>
                <a:spcPct val="50000"/>
              </a:spcBef>
              <a:buSzPct val="75000"/>
              <a:buChar char="•"/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SzPct val="75000"/>
              <a:buChar char="•"/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SzPct val="75000"/>
              <a:buChar char="•"/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SzPct val="75000"/>
              <a:buChar char="•"/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SzPct val="75000"/>
              <a:buChar char="•"/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/>
            </a:pPr>
            <a:endParaRPr lang="en-US" altLang="en-US" sz="2000" b="1" i="1">
              <a:latin typeface="Arial" pitchFamily="34" charset="0"/>
              <a:ea typeface="ＭＳ Ｐゴシック"/>
              <a:cs typeface="ＭＳ Ｐゴシック"/>
            </a:endParaRPr>
          </a:p>
        </p:txBody>
      </p:sp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B6BC7CFF-1EFF-433B-83E3-2D31A43EE7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43323" y="1412776"/>
            <a:ext cx="10105354" cy="4752528"/>
          </a:xfrm>
        </p:spPr>
        <p:txBody>
          <a:bodyPr/>
          <a:lstStyle>
            <a:lvl1pPr marL="0" indent="0">
              <a:buNone/>
              <a:defRPr sz="4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9" name="Group 5">
            <a:extLst>
              <a:ext uri="{FF2B5EF4-FFF2-40B4-BE49-F238E27FC236}">
                <a16:creationId xmlns:a16="http://schemas.microsoft.com/office/drawing/2014/main" id="{A67C55A2-6321-4EBC-82D8-AD3326F7F697}"/>
              </a:ext>
            </a:extLst>
          </p:cNvPr>
          <p:cNvGrpSpPr>
            <a:grpSpLocks/>
          </p:cNvGrpSpPr>
          <p:nvPr/>
        </p:nvGrpSpPr>
        <p:grpSpPr bwMode="auto">
          <a:xfrm>
            <a:off x="7897767" y="200451"/>
            <a:ext cx="4174897" cy="884207"/>
            <a:chOff x="0" y="0"/>
            <a:chExt cx="2902937" cy="625068"/>
          </a:xfrm>
        </p:grpSpPr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D8504BC0-BE68-4499-9BEB-32305F9CAB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1" y="0"/>
              <a:ext cx="1439565" cy="4870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3">
              <a:extLst>
                <a:ext uri="{FF2B5EF4-FFF2-40B4-BE49-F238E27FC236}">
                  <a16:creationId xmlns:a16="http://schemas.microsoft.com/office/drawing/2014/main" id="{A65713DA-3024-4461-B20D-7A502CE0B5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3850" y="1587"/>
              <a:ext cx="1439564" cy="47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2" name="Group 8">
              <a:extLst>
                <a:ext uri="{FF2B5EF4-FFF2-40B4-BE49-F238E27FC236}">
                  <a16:creationId xmlns:a16="http://schemas.microsoft.com/office/drawing/2014/main" id="{8E98FA9E-4553-4D36-A1FE-4DA67A0BD0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480700"/>
              <a:ext cx="2902937" cy="144368"/>
              <a:chOff x="0" y="0"/>
              <a:chExt cx="2902937" cy="144368"/>
            </a:xfrm>
          </p:grpSpPr>
          <p:sp>
            <p:nvSpPr>
              <p:cNvPr id="13" name="Text Box 15">
                <a:extLst>
                  <a:ext uri="{FF2B5EF4-FFF2-40B4-BE49-F238E27FC236}">
                    <a16:creationId xmlns:a16="http://schemas.microsoft.com/office/drawing/2014/main" id="{FE217573-5DBC-44C2-BD1B-AF78458ABC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726925" cy="144368"/>
              </a:xfrm>
              <a:prstGeom prst="rect">
                <a:avLst/>
              </a:prstGeom>
              <a:solidFill>
                <a:srgbClr val="8F11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900">
                    <a:solidFill>
                      <a:schemeClr val="bg1"/>
                    </a:solidFill>
                    <a:latin typeface="Arial" panose="020B0604020202020204" pitchFamily="34" charset="0"/>
                  </a:rPr>
                  <a:t>1896</a:t>
                </a:r>
              </a:p>
            </p:txBody>
          </p:sp>
          <p:sp>
            <p:nvSpPr>
              <p:cNvPr id="14" name="Text Box 16">
                <a:extLst>
                  <a:ext uri="{FF2B5EF4-FFF2-40B4-BE49-F238E27FC236}">
                    <a16:creationId xmlns:a16="http://schemas.microsoft.com/office/drawing/2014/main" id="{B963FF5F-A0D4-437E-B8F4-8F53BB9B10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2163" y="0"/>
                <a:ext cx="726925" cy="144368"/>
              </a:xfrm>
              <a:prstGeom prst="rect">
                <a:avLst/>
              </a:prstGeom>
              <a:solidFill>
                <a:srgbClr val="8F11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900">
                    <a:solidFill>
                      <a:schemeClr val="bg1"/>
                    </a:solidFill>
                    <a:latin typeface="Arial" panose="020B0604020202020204" pitchFamily="34" charset="0"/>
                  </a:rPr>
                  <a:t>1920</a:t>
                </a:r>
              </a:p>
            </p:txBody>
          </p:sp>
          <p:sp>
            <p:nvSpPr>
              <p:cNvPr id="15" name="Text Box 17">
                <a:extLst>
                  <a:ext uri="{FF2B5EF4-FFF2-40B4-BE49-F238E27FC236}">
                    <a16:creationId xmlns:a16="http://schemas.microsoft.com/office/drawing/2014/main" id="{8E11AA32-FEE4-4E7D-BDFE-E38D9DA49E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9087" y="0"/>
                <a:ext cx="726925" cy="144368"/>
              </a:xfrm>
              <a:prstGeom prst="rect">
                <a:avLst/>
              </a:prstGeom>
              <a:solidFill>
                <a:srgbClr val="8F11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900">
                    <a:solidFill>
                      <a:schemeClr val="bg1"/>
                    </a:solidFill>
                    <a:latin typeface="Arial" panose="020B0604020202020204" pitchFamily="34" charset="0"/>
                  </a:rPr>
                  <a:t>1987</a:t>
                </a:r>
              </a:p>
            </p:txBody>
          </p:sp>
          <p:sp>
            <p:nvSpPr>
              <p:cNvPr id="16" name="Text Box 18">
                <a:extLst>
                  <a:ext uri="{FF2B5EF4-FFF2-40B4-BE49-F238E27FC236}">
                    <a16:creationId xmlns:a16="http://schemas.microsoft.com/office/drawing/2014/main" id="{08428D61-E57C-439A-A81D-B59131FB4F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76012" y="0"/>
                <a:ext cx="726925" cy="144368"/>
              </a:xfrm>
              <a:prstGeom prst="rect">
                <a:avLst/>
              </a:prstGeom>
              <a:solidFill>
                <a:srgbClr val="8F11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900">
                    <a:solidFill>
                      <a:schemeClr val="bg1"/>
                    </a:solidFill>
                    <a:latin typeface="Arial" panose="020B0604020202020204" pitchFamily="34" charset="0"/>
                  </a:rPr>
                  <a:t>2006</a:t>
                </a:r>
              </a:p>
            </p:txBody>
          </p:sp>
        </p:grp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1F0754F-C210-4C33-B59E-F6FE90E9455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366" y="5070515"/>
            <a:ext cx="1716296" cy="17169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EE1C1B-81D7-49EB-9588-D2786578DE5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887" y="-270627"/>
            <a:ext cx="5339791" cy="1755411"/>
          </a:xfrm>
          <a:prstGeom prst="rect">
            <a:avLst/>
          </a:prstGeom>
        </p:spPr>
      </p:pic>
      <p:pic>
        <p:nvPicPr>
          <p:cNvPr id="17" name="Picture 3">
            <a:extLst>
              <a:ext uri="{FF2B5EF4-FFF2-40B4-BE49-F238E27FC236}">
                <a16:creationId xmlns:a16="http://schemas.microsoft.com/office/drawing/2014/main" id="{76EEFA8E-6204-44BA-A37E-1FB585F0A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7324" y="5755253"/>
            <a:ext cx="2579322" cy="820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1379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25401" y="114300"/>
            <a:ext cx="2806700" cy="79057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lnSpc>
                <a:spcPct val="80000"/>
              </a:lnSpc>
              <a:spcBef>
                <a:spcPct val="50000"/>
              </a:spcBef>
              <a:buSzPct val="75000"/>
              <a:buChar char="•"/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lnSpc>
                <a:spcPct val="80000"/>
              </a:lnSpc>
              <a:spcBef>
                <a:spcPct val="50000"/>
              </a:spcBef>
              <a:buSzPct val="75000"/>
              <a:buChar char="•"/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lnSpc>
                <a:spcPct val="80000"/>
              </a:lnSpc>
              <a:spcBef>
                <a:spcPct val="50000"/>
              </a:spcBef>
              <a:buSzPct val="75000"/>
              <a:buChar char="•"/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lnSpc>
                <a:spcPct val="80000"/>
              </a:lnSpc>
              <a:spcBef>
                <a:spcPct val="50000"/>
              </a:spcBef>
              <a:buSzPct val="75000"/>
              <a:buChar char="•"/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lnSpc>
                <a:spcPct val="80000"/>
              </a:lnSpc>
              <a:spcBef>
                <a:spcPct val="50000"/>
              </a:spcBef>
              <a:buSzPct val="75000"/>
              <a:buChar char="•"/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SzPct val="75000"/>
              <a:buChar char="•"/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SzPct val="75000"/>
              <a:buChar char="•"/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SzPct val="75000"/>
              <a:buChar char="•"/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SzPct val="75000"/>
              <a:buChar char="•"/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/>
            </a:pPr>
            <a:endParaRPr lang="en-US" altLang="en-US" sz="2000" b="1" i="1">
              <a:latin typeface="Arial" pitchFamily="34" charset="0"/>
              <a:ea typeface="ＭＳ Ｐゴシック"/>
              <a:cs typeface="ＭＳ Ｐゴシック"/>
            </a:endParaRPr>
          </a:p>
        </p:txBody>
      </p:sp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B6BC7CFF-1EFF-433B-83E3-2D31A43EE7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43323" y="1412776"/>
            <a:ext cx="10105354" cy="4752528"/>
          </a:xfrm>
        </p:spPr>
        <p:txBody>
          <a:bodyPr/>
          <a:lstStyle>
            <a:lvl1pPr marL="0" indent="0">
              <a:buNone/>
              <a:defRPr sz="4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9" name="Group 5">
            <a:extLst>
              <a:ext uri="{FF2B5EF4-FFF2-40B4-BE49-F238E27FC236}">
                <a16:creationId xmlns:a16="http://schemas.microsoft.com/office/drawing/2014/main" id="{A67C55A2-6321-4EBC-82D8-AD3326F7F697}"/>
              </a:ext>
            </a:extLst>
          </p:cNvPr>
          <p:cNvGrpSpPr>
            <a:grpSpLocks/>
          </p:cNvGrpSpPr>
          <p:nvPr/>
        </p:nvGrpSpPr>
        <p:grpSpPr bwMode="auto">
          <a:xfrm>
            <a:off x="7897767" y="200451"/>
            <a:ext cx="4174897" cy="884207"/>
            <a:chOff x="0" y="0"/>
            <a:chExt cx="2902937" cy="625068"/>
          </a:xfrm>
        </p:grpSpPr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D8504BC0-BE68-4499-9BEB-32305F9CAB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1" y="0"/>
              <a:ext cx="1439565" cy="4870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3">
              <a:extLst>
                <a:ext uri="{FF2B5EF4-FFF2-40B4-BE49-F238E27FC236}">
                  <a16:creationId xmlns:a16="http://schemas.microsoft.com/office/drawing/2014/main" id="{A65713DA-3024-4461-B20D-7A502CE0B5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3850" y="1587"/>
              <a:ext cx="1439564" cy="47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2" name="Group 8">
              <a:extLst>
                <a:ext uri="{FF2B5EF4-FFF2-40B4-BE49-F238E27FC236}">
                  <a16:creationId xmlns:a16="http://schemas.microsoft.com/office/drawing/2014/main" id="{8E98FA9E-4553-4D36-A1FE-4DA67A0BD0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480700"/>
              <a:ext cx="2902937" cy="144368"/>
              <a:chOff x="0" y="0"/>
              <a:chExt cx="2902937" cy="144368"/>
            </a:xfrm>
          </p:grpSpPr>
          <p:sp>
            <p:nvSpPr>
              <p:cNvPr id="13" name="Text Box 15">
                <a:extLst>
                  <a:ext uri="{FF2B5EF4-FFF2-40B4-BE49-F238E27FC236}">
                    <a16:creationId xmlns:a16="http://schemas.microsoft.com/office/drawing/2014/main" id="{FE217573-5DBC-44C2-BD1B-AF78458ABC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726925" cy="144368"/>
              </a:xfrm>
              <a:prstGeom prst="rect">
                <a:avLst/>
              </a:prstGeom>
              <a:solidFill>
                <a:srgbClr val="8F11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900">
                    <a:solidFill>
                      <a:schemeClr val="bg1"/>
                    </a:solidFill>
                    <a:latin typeface="Arial" panose="020B0604020202020204" pitchFamily="34" charset="0"/>
                  </a:rPr>
                  <a:t>1896</a:t>
                </a:r>
              </a:p>
            </p:txBody>
          </p:sp>
          <p:sp>
            <p:nvSpPr>
              <p:cNvPr id="14" name="Text Box 16">
                <a:extLst>
                  <a:ext uri="{FF2B5EF4-FFF2-40B4-BE49-F238E27FC236}">
                    <a16:creationId xmlns:a16="http://schemas.microsoft.com/office/drawing/2014/main" id="{B963FF5F-A0D4-437E-B8F4-8F53BB9B10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2163" y="0"/>
                <a:ext cx="726925" cy="144368"/>
              </a:xfrm>
              <a:prstGeom prst="rect">
                <a:avLst/>
              </a:prstGeom>
              <a:solidFill>
                <a:srgbClr val="8F11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900">
                    <a:solidFill>
                      <a:schemeClr val="bg1"/>
                    </a:solidFill>
                    <a:latin typeface="Arial" panose="020B0604020202020204" pitchFamily="34" charset="0"/>
                  </a:rPr>
                  <a:t>1920</a:t>
                </a:r>
              </a:p>
            </p:txBody>
          </p:sp>
          <p:sp>
            <p:nvSpPr>
              <p:cNvPr id="15" name="Text Box 17">
                <a:extLst>
                  <a:ext uri="{FF2B5EF4-FFF2-40B4-BE49-F238E27FC236}">
                    <a16:creationId xmlns:a16="http://schemas.microsoft.com/office/drawing/2014/main" id="{8E11AA32-FEE4-4E7D-BDFE-E38D9DA49E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9087" y="0"/>
                <a:ext cx="726925" cy="144368"/>
              </a:xfrm>
              <a:prstGeom prst="rect">
                <a:avLst/>
              </a:prstGeom>
              <a:solidFill>
                <a:srgbClr val="8F11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900">
                    <a:solidFill>
                      <a:schemeClr val="bg1"/>
                    </a:solidFill>
                    <a:latin typeface="Arial" panose="020B0604020202020204" pitchFamily="34" charset="0"/>
                  </a:rPr>
                  <a:t>1987</a:t>
                </a:r>
              </a:p>
            </p:txBody>
          </p:sp>
          <p:sp>
            <p:nvSpPr>
              <p:cNvPr id="16" name="Text Box 18">
                <a:extLst>
                  <a:ext uri="{FF2B5EF4-FFF2-40B4-BE49-F238E27FC236}">
                    <a16:creationId xmlns:a16="http://schemas.microsoft.com/office/drawing/2014/main" id="{08428D61-E57C-439A-A81D-B59131FB4F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76012" y="0"/>
                <a:ext cx="726925" cy="144368"/>
              </a:xfrm>
              <a:prstGeom prst="rect">
                <a:avLst/>
              </a:prstGeom>
              <a:solidFill>
                <a:srgbClr val="8F11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5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900">
                    <a:solidFill>
                      <a:schemeClr val="bg1"/>
                    </a:solidFill>
                    <a:latin typeface="Arial" panose="020B0604020202020204" pitchFamily="34" charset="0"/>
                  </a:rPr>
                  <a:t>2006</a:t>
                </a:r>
              </a:p>
            </p:txBody>
          </p:sp>
        </p:grp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1F0754F-C210-4C33-B59E-F6FE90E9455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366" y="5070515"/>
            <a:ext cx="1716296" cy="17169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EE1C1B-81D7-49EB-9588-D2786578DE5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887" y="-270627"/>
            <a:ext cx="5339791" cy="1755411"/>
          </a:xfrm>
          <a:prstGeom prst="rect">
            <a:avLst/>
          </a:prstGeom>
        </p:spPr>
      </p:pic>
      <p:pic>
        <p:nvPicPr>
          <p:cNvPr id="17" name="Picture 3">
            <a:extLst>
              <a:ext uri="{FF2B5EF4-FFF2-40B4-BE49-F238E27FC236}">
                <a16:creationId xmlns:a16="http://schemas.microsoft.com/office/drawing/2014/main" id="{76EEFA8E-6204-44BA-A37E-1FB585F0A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312" y="5673321"/>
            <a:ext cx="2579322" cy="820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44455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03940"/>
            <a:ext cx="10972800" cy="5316920"/>
          </a:xfrm>
        </p:spPr>
        <p:txBody>
          <a:bodyPr/>
          <a:lstStyle>
            <a:lvl1pPr>
              <a:defRPr sz="3000"/>
            </a:lvl1pPr>
            <a:lvl2pPr>
              <a:defRPr sz="22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087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5760" y="0"/>
            <a:ext cx="8030344" cy="105273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511300"/>
            <a:ext cx="5384800" cy="4902200"/>
          </a:xfrm>
        </p:spPr>
        <p:txBody>
          <a:bodyPr/>
          <a:lstStyle>
            <a:lvl1pPr>
              <a:defRPr sz="3000"/>
            </a:lvl1pPr>
            <a:lvl2pPr>
              <a:defRPr sz="221900"/>
            </a:lvl2pPr>
            <a:lvl3pPr>
              <a:defRPr sz="2200"/>
            </a:lvl3pPr>
            <a:lvl4pPr>
              <a:defRPr sz="1900"/>
            </a:lvl4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511300"/>
            <a:ext cx="5384800" cy="4902200"/>
          </a:xfrm>
        </p:spPr>
        <p:txBody>
          <a:bodyPr/>
          <a:lstStyle>
            <a:lvl1pPr>
              <a:defRPr sz="3000"/>
            </a:lvl1pPr>
            <a:lvl2pPr>
              <a:defRPr sz="2200"/>
            </a:lvl2pPr>
            <a:lvl3pPr>
              <a:defRPr sz="1900"/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6103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1">
            <a:extLst>
              <a:ext uri="{FF2B5EF4-FFF2-40B4-BE49-F238E27FC236}">
                <a16:creationId xmlns:a16="http://schemas.microsoft.com/office/drawing/2014/main" id="{C83A1C55-A00C-4A84-938C-D74A945AC2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4486" y="2420888"/>
            <a:ext cx="10563027" cy="2664295"/>
          </a:xfrm>
        </p:spPr>
        <p:txBody>
          <a:bodyPr/>
          <a:lstStyle>
            <a:lvl1pPr marL="0" indent="0">
              <a:buNone/>
              <a:defRPr sz="4000" b="1">
                <a:latin typeface="+mj-lt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4375923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4E50A58-8B69-F2A1-A23E-2C6225296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6AD96-60A5-420B-BCCF-E7AA7B44633B}" type="datetimeFigureOut">
              <a:rPr lang="zh-CN" altLang="en-US" smtClean="0"/>
              <a:t>2025/8/5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82DF5BC-53E9-F2E0-6C05-A96D8167E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BE46E3-8795-3589-47C0-186542C41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751B3-1684-4503-96C6-F912C21C17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280571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theme" Target="../theme/theme2.xml"/><Relationship Id="rId8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079776" y="-1"/>
            <a:ext cx="7705824" cy="1052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Slide Title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511300"/>
            <a:ext cx="10972800" cy="490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Body Text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8" name="Line 4"/>
          <p:cNvSpPr>
            <a:spLocks noChangeShapeType="1"/>
          </p:cNvSpPr>
          <p:nvPr/>
        </p:nvSpPr>
        <p:spPr bwMode="auto">
          <a:xfrm>
            <a:off x="0" y="1052736"/>
            <a:ext cx="1219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11732363" y="6556375"/>
            <a:ext cx="394340" cy="305212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fld id="{89D12691-A36D-455D-8F47-CA96310C1226}" type="slidenum">
              <a:rPr lang="en-US" altLang="en-US" sz="1400" smtClean="0"/>
              <a:pPr algn="ctr" eaLnBrk="1" hangingPunct="1">
                <a:defRPr/>
              </a:pPr>
              <a:t>‹#›</a:t>
            </a:fld>
            <a:endParaRPr lang="en-US" altLang="en-US" sz="1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614B8B-C3D8-48EA-B9EB-00F393A49FE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75" y="46302"/>
            <a:ext cx="3680467" cy="960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509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+mj-lt"/>
          <a:ea typeface="ＭＳ Ｐゴシック" charset="0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Calibri" pitchFamily="34" charset="0"/>
          <a:ea typeface="ＭＳ Ｐゴシック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Calibri" pitchFamily="34" charset="0"/>
          <a:ea typeface="ＭＳ Ｐゴシック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Calibri" pitchFamily="34" charset="0"/>
          <a:ea typeface="ＭＳ Ｐゴシック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Calibri" pitchFamily="34" charset="0"/>
          <a:ea typeface="ＭＳ Ｐゴシック" charset="0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Calibri" pitchFamily="34" charset="0"/>
          <a:cs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Calibri" pitchFamily="34" charset="0"/>
          <a:cs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Calibri" pitchFamily="34" charset="0"/>
          <a:cs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Calibri" pitchFamily="34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50000"/>
        </a:spcBef>
        <a:spcAft>
          <a:spcPct val="0"/>
        </a:spcAft>
        <a:buSzPct val="75000"/>
        <a:buChar char="•"/>
        <a:defRPr sz="30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1" fontAlgn="base" hangingPunct="1">
        <a:spcBef>
          <a:spcPct val="50000"/>
        </a:spcBef>
        <a:spcAft>
          <a:spcPct val="0"/>
        </a:spcAft>
        <a:buSzPct val="75000"/>
        <a:buChar char="–"/>
        <a:defRPr sz="2200">
          <a:solidFill>
            <a:schemeClr val="tx1"/>
          </a:solidFill>
          <a:latin typeface="+mn-lt"/>
          <a:ea typeface="Arial" charset="0"/>
          <a:cs typeface="+mn-cs"/>
        </a:defRPr>
      </a:lvl2pPr>
      <a:lvl3pPr marL="1143000" indent="-228600" algn="l" rtl="0" eaLnBrk="1" fontAlgn="base" hangingPunct="1">
        <a:spcBef>
          <a:spcPct val="50000"/>
        </a:spcBef>
        <a:spcAft>
          <a:spcPct val="0"/>
        </a:spcAft>
        <a:buSzPct val="75000"/>
        <a:buFont typeface="Wingdings" pitchFamily="2" charset="2"/>
        <a:buChar char="Ø"/>
        <a:defRPr sz="1900">
          <a:solidFill>
            <a:schemeClr val="tx1"/>
          </a:solidFill>
          <a:latin typeface="+mn-lt"/>
          <a:ea typeface="Arial" charset="0"/>
          <a:cs typeface="+mn-cs"/>
        </a:defRPr>
      </a:lvl3pPr>
      <a:lvl4pPr marL="1600200" indent="-228600" algn="l" rtl="0" eaLnBrk="1" fontAlgn="base" hangingPunct="1">
        <a:spcBef>
          <a:spcPct val="50000"/>
        </a:spcBef>
        <a:spcAft>
          <a:spcPct val="0"/>
        </a:spcAft>
        <a:buSzPct val="75000"/>
        <a:buChar char="–"/>
        <a:defRPr>
          <a:solidFill>
            <a:schemeClr val="tx1"/>
          </a:solidFill>
          <a:latin typeface="+mn-lt"/>
          <a:ea typeface="Arial" charset="0"/>
          <a:cs typeface="+mn-cs"/>
        </a:defRPr>
      </a:lvl4pPr>
      <a:lvl5pPr marL="2057400" indent="-228600" algn="l" rtl="0" eaLnBrk="1" fontAlgn="base" hangingPunct="1">
        <a:spcBef>
          <a:spcPct val="50000"/>
        </a:spcBef>
        <a:spcAft>
          <a:spcPct val="0"/>
        </a:spcAft>
        <a:buSzPct val="75000"/>
        <a:buChar char="»"/>
        <a:defRPr>
          <a:solidFill>
            <a:schemeClr val="tx1"/>
          </a:solidFill>
          <a:latin typeface="+mn-lt"/>
          <a:ea typeface="Arial" charset="0"/>
          <a:cs typeface="+mn-cs"/>
        </a:defRPr>
      </a:lvl5pPr>
      <a:lvl6pPr marL="2514600" indent="-228600" algn="l" rtl="0" eaLnBrk="1" fontAlgn="base" hangingPunct="1">
        <a:spcBef>
          <a:spcPct val="50000"/>
        </a:spcBef>
        <a:spcAft>
          <a:spcPct val="0"/>
        </a:spcAft>
        <a:buSzPct val="75000"/>
        <a:buChar char="»"/>
        <a:defRPr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50000"/>
        </a:spcBef>
        <a:spcAft>
          <a:spcPct val="0"/>
        </a:spcAft>
        <a:buSzPct val="75000"/>
        <a:buChar char="»"/>
        <a:defRPr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50000"/>
        </a:spcBef>
        <a:spcAft>
          <a:spcPct val="0"/>
        </a:spcAft>
        <a:buSzPct val="75000"/>
        <a:buChar char="»"/>
        <a:defRPr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50000"/>
        </a:spcBef>
        <a:spcAft>
          <a:spcPct val="0"/>
        </a:spcAft>
        <a:buSzPct val="75000"/>
        <a:buChar char="»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11824" y="-1"/>
            <a:ext cx="7488832" cy="1052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Slide Title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511300"/>
            <a:ext cx="10972800" cy="490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Body Text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8" name="Line 4"/>
          <p:cNvSpPr>
            <a:spLocks noChangeShapeType="1"/>
          </p:cNvSpPr>
          <p:nvPr/>
        </p:nvSpPr>
        <p:spPr bwMode="auto">
          <a:xfrm>
            <a:off x="0" y="1052736"/>
            <a:ext cx="1219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11732363" y="6556375"/>
            <a:ext cx="394340" cy="305212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fld id="{89D12691-A36D-455D-8F47-CA96310C1226}" type="slidenum">
              <a:rPr lang="en-US" altLang="en-US" sz="1400" smtClean="0"/>
              <a:pPr algn="ctr" eaLnBrk="1" hangingPunct="1">
                <a:defRPr/>
              </a:pPr>
              <a:t>‹#›</a:t>
            </a:fld>
            <a:endParaRPr lang="en-US" altLang="en-US" sz="14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1D57BFE-9DF2-4790-9508-86526859554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2712" y="-315416"/>
            <a:ext cx="5112568" cy="1680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614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+mj-lt"/>
          <a:ea typeface="ＭＳ Ｐゴシック" charset="0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Calibri" pitchFamily="34" charset="0"/>
          <a:ea typeface="ＭＳ Ｐゴシック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Calibri" pitchFamily="34" charset="0"/>
          <a:ea typeface="ＭＳ Ｐゴシック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Calibri" pitchFamily="34" charset="0"/>
          <a:ea typeface="ＭＳ Ｐゴシック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Calibri" pitchFamily="34" charset="0"/>
          <a:ea typeface="ＭＳ Ｐゴシック" charset="0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Calibri" pitchFamily="34" charset="0"/>
          <a:cs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Calibri" pitchFamily="34" charset="0"/>
          <a:cs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Calibri" pitchFamily="34" charset="0"/>
          <a:cs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Calibri" pitchFamily="34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50000"/>
        </a:spcBef>
        <a:spcAft>
          <a:spcPct val="0"/>
        </a:spcAft>
        <a:buSzPct val="75000"/>
        <a:buChar char="•"/>
        <a:defRPr sz="30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1" fontAlgn="base" hangingPunct="1">
        <a:spcBef>
          <a:spcPct val="50000"/>
        </a:spcBef>
        <a:spcAft>
          <a:spcPct val="0"/>
        </a:spcAft>
        <a:buSzPct val="75000"/>
        <a:buChar char="–"/>
        <a:defRPr sz="2200">
          <a:solidFill>
            <a:schemeClr val="tx1"/>
          </a:solidFill>
          <a:latin typeface="+mn-lt"/>
          <a:ea typeface="Arial" charset="0"/>
          <a:cs typeface="+mn-cs"/>
        </a:defRPr>
      </a:lvl2pPr>
      <a:lvl3pPr marL="1143000" indent="-228600" algn="l" rtl="0" eaLnBrk="1" fontAlgn="base" hangingPunct="1">
        <a:spcBef>
          <a:spcPct val="50000"/>
        </a:spcBef>
        <a:spcAft>
          <a:spcPct val="0"/>
        </a:spcAft>
        <a:buSzPct val="75000"/>
        <a:buFont typeface="Wingdings" pitchFamily="2" charset="2"/>
        <a:buChar char="Ø"/>
        <a:defRPr sz="1900">
          <a:solidFill>
            <a:schemeClr val="tx1"/>
          </a:solidFill>
          <a:latin typeface="+mn-lt"/>
          <a:ea typeface="Arial" charset="0"/>
          <a:cs typeface="+mn-cs"/>
        </a:defRPr>
      </a:lvl3pPr>
      <a:lvl4pPr marL="1600200" indent="-228600" algn="l" rtl="0" eaLnBrk="1" fontAlgn="base" hangingPunct="1">
        <a:spcBef>
          <a:spcPct val="50000"/>
        </a:spcBef>
        <a:spcAft>
          <a:spcPct val="0"/>
        </a:spcAft>
        <a:buSzPct val="75000"/>
        <a:buChar char="–"/>
        <a:defRPr>
          <a:solidFill>
            <a:schemeClr val="tx1"/>
          </a:solidFill>
          <a:latin typeface="+mn-lt"/>
          <a:ea typeface="Arial" charset="0"/>
          <a:cs typeface="+mn-cs"/>
        </a:defRPr>
      </a:lvl4pPr>
      <a:lvl5pPr marL="2057400" indent="-228600" algn="l" rtl="0" eaLnBrk="1" fontAlgn="base" hangingPunct="1">
        <a:spcBef>
          <a:spcPct val="50000"/>
        </a:spcBef>
        <a:spcAft>
          <a:spcPct val="0"/>
        </a:spcAft>
        <a:buSzPct val="75000"/>
        <a:buChar char="»"/>
        <a:defRPr>
          <a:solidFill>
            <a:schemeClr val="tx1"/>
          </a:solidFill>
          <a:latin typeface="+mn-lt"/>
          <a:ea typeface="Arial" charset="0"/>
          <a:cs typeface="+mn-cs"/>
        </a:defRPr>
      </a:lvl5pPr>
      <a:lvl6pPr marL="2514600" indent="-228600" algn="l" rtl="0" eaLnBrk="1" fontAlgn="base" hangingPunct="1">
        <a:spcBef>
          <a:spcPct val="50000"/>
        </a:spcBef>
        <a:spcAft>
          <a:spcPct val="0"/>
        </a:spcAft>
        <a:buSzPct val="75000"/>
        <a:buChar char="»"/>
        <a:defRPr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50000"/>
        </a:spcBef>
        <a:spcAft>
          <a:spcPct val="0"/>
        </a:spcAft>
        <a:buSzPct val="75000"/>
        <a:buChar char="»"/>
        <a:defRPr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50000"/>
        </a:spcBef>
        <a:spcAft>
          <a:spcPct val="0"/>
        </a:spcAft>
        <a:buSzPct val="75000"/>
        <a:buChar char="»"/>
        <a:defRPr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50000"/>
        </a:spcBef>
        <a:spcAft>
          <a:spcPct val="0"/>
        </a:spcAft>
        <a:buSzPct val="75000"/>
        <a:buChar char="»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C00000"/>
                </a:solidFill>
                <a:latin typeface="Arial"/>
              </a:defRPr>
            </a:pPr>
            <a:r>
              <a:t>Covariance Map Matching (CMM)</a:t>
            </a:r>
          </a:p>
          <a:p>
            <a:pPr algn="ctr">
              <a:spcBef>
                <a:spcPts val="1200"/>
              </a:spcBef>
              <a:spcAft>
                <a:spcPts val="20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t>Probabilistic Propagation with GNSS Uncertainty and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t>Trustworthiness Evaluation for Mismatch Prevention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389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0000"/>
                </a:solidFill>
                <a:latin typeface="Arial"/>
              </a:defRPr>
            </a:pPr>
            <a:r>
              <a:t>Reporter: Chenzhang Ning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  <a:defRPr sz="1800" b="0">
                <a:solidFill>
                  <a:srgbClr val="666666"/>
                </a:solidFill>
                <a:latin typeface="Arial"/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67328" y="-18288"/>
            <a:ext cx="8138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Presentation Outline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11480" cy="41148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5331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00000"/>
                </a:solidFill>
                <a:latin typeface="Arial"/>
              </a:defRPr>
            </a:pPr>
            <a:r>
              <a:t>Problem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1907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Arial"/>
              </a:defRPr>
            </a:pPr>
            <a:r>
              <a:t>GNSS uncertainty challenge; why covariance matters; core contributions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411480" cy="41148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591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70C0"/>
                </a:solidFill>
                <a:latin typeface="Arial"/>
              </a:defRPr>
            </a:pPr>
            <a:r>
              <a:t>Probabilistic Propagation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2491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Arial"/>
              </a:defRPr>
            </a:pPr>
            <a:r>
              <a:t>Emission probability; Jacobian reprojection; PHMI integrity 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411480" cy="411480"/>
          </a:xfrm>
          <a:prstGeom prst="roundRect">
            <a:avLst/>
          </a:prstGeom>
          <a:solidFill>
            <a:srgbClr val="E07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3649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07010"/>
                </a:solidFill>
                <a:latin typeface="Arial"/>
              </a:defRPr>
            </a:pPr>
            <a:r>
              <a:t>Transition Model &amp; Viterbi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7307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Arial"/>
              </a:defRPr>
            </a:pPr>
            <a:r>
              <a:t>UBODT-based transition; log-space Viterbi; gap bridging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89120"/>
            <a:ext cx="411480" cy="411480"/>
          </a:xfrm>
          <a:prstGeom prst="round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3708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8040"/>
                </a:solidFill>
                <a:latin typeface="Arial"/>
              </a:defRPr>
            </a:pPr>
            <a:r>
              <a:t>Trustworthiness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736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Arial"/>
              </a:defRPr>
            </a:pPr>
            <a:r>
              <a:t>Layer entropy &amp; ΔH; sliding-window margin; diagnostic fault classification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94960"/>
            <a:ext cx="411480" cy="41148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3766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66666"/>
                </a:solidFill>
                <a:latin typeface="Arial"/>
              </a:defRPr>
            </a:pPr>
            <a:r>
              <a:t>Results &amp; Conclusion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7424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Arial"/>
              </a:defRPr>
            </a:pPr>
            <a:r>
              <a:t>System architecture; config parameters; future directions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00000"/>
                </a:solidFill>
                <a:latin typeface="Calibri"/>
              </a:defRPr>
            </a:pPr>
            <a:r>
              <a:t>Section 1: Problem &amp; Motivation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67328" y="-18288"/>
            <a:ext cx="8138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1 — The Map Matching Challenge Under Uncertainty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00000"/>
                </a:solidFill>
                <a:latin typeface="Arial"/>
              </a:defRPr>
            </a:pPr>
            <a:r>
              <a:t>Classic HMM Map Matching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Assumes isotropic, fixed-variance GPS error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Emission probability: P ∝ exp(−dist² / 2σ²) — circular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Single σ parameter per dataset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Works for open-sky, static environments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70C0"/>
                </a:solidFill>
                <a:latin typeface="Arial"/>
              </a:defRPr>
            </a:pPr>
            <a:r>
              <a:t>Real GNSS Reality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Anisotropic error: urban canyons, multipath, satellite geometry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Per-epoch covariance from receiver (6 elements):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t>  sde, sdn — East/North standard deviation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t>  sdne — North-East covariance (off-diagonal term)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Protection levels bound maximum position error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Maps also have digitization error (centerline offset)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206240"/>
            <a:ext cx="11064240" cy="914400"/>
          </a:xfrm>
          <a:prstGeom prst="roundRect">
            <a:avLst/>
          </a:prstGeom>
          <a:solidFill>
            <a:srgbClr val="F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ctr">
              <a:defRPr sz="1600" b="1">
                <a:solidFill>
                  <a:srgbClr val="C00000"/>
                </a:solidFill>
                <a:latin typeface="Arial"/>
              </a:defRPr>
            </a:pPr>
            <a:r>
              <a:t>CMM uses the full 2D covariance matrix + protection levels, not just a scalar distance. This is the key differentiator from classic Hidden Markov Map Matching.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303520"/>
            <a:ext cx="11064240" cy="73152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// cmm_algorithm.hpp:96-108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struct CovarianceMatrix { double sde, sdn, sdu, sdne, sdeu, sdun;  // 6 components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Matrix2d to_2d_matrix() { return Matrix2d(sde*sde, sdne,  sdne, sdn*sdn);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};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67328" y="-18288"/>
            <a:ext cx="8138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2 — Why Covariance Matters: Anisotropic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00000"/>
                </a:solidFill>
                <a:latin typeface="Arial"/>
              </a:defRPr>
            </a:pPr>
            <a:r>
              <a:t>Mahalanobis vs Euclidean Distance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2000" b="0">
                <a:solidFill>
                  <a:srgbClr val="000000"/>
                </a:solidFill>
                <a:latin typeface="Arial"/>
              </a:defRPr>
            </a:pPr>
            <a:r>
              <a:t>Mahalanobis:  d² = Δxᵀ · Σ⁻¹ · Δx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  • Respects error correlation between East and North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t>  • Units: dimensionless standard deviations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  • Candidate ranking reflects actual GPS error distribution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2000" b="0">
                <a:solidFill>
                  <a:srgbClr val="000000"/>
                </a:solidFill>
                <a:latin typeface="Arial"/>
              </a:defRPr>
            </a:pPr>
            <a:r>
              <a:t>Euclidean:  d² = (Δx)² + (Δy)²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  • Treats all directions as equally uncertain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  • Can mis-rank when σ_E ≫ σ_N (e.g., urban canyon along-street)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70C0"/>
                </a:solidFill>
                <a:latin typeface="Arial"/>
              </a:defRPr>
            </a:pPr>
            <a:r>
              <a:t>Error Ellipse &amp; Protection Level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Semi-major axis of error ellipse: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PL from GNSS receiver integrity guarantee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Covariance eigenvalues → error ellipse orientation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Mahalanobis projection uses Σ⁻¹ for optimal edge matching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286000"/>
            <a:ext cx="5303520" cy="1371600"/>
          </a:xfrm>
          <a:prstGeom prst="roundRect">
            <a:avLst/>
          </a:prstGeom>
          <a:solidFill>
            <a:srgbClr val="E0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l">
              <a:defRPr sz="1600" b="1">
                <a:solidFill>
                  <a:srgbClr val="0070C0"/>
                </a:solidFill>
                <a:latin typeface="Arial"/>
              </a:defRPr>
            </a:pPr>
            <a:r>
              <a:t>σ_major = √[ (σE²+σN²)/2 + √((σE²−σN²)/2)² + σEN² 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t>Scaling: K ≈ 5.33 for 10⁻⁵ integrity risk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600" b="0">
                <a:solidFill>
                  <a:srgbClr val="C00000"/>
                </a:solidFill>
                <a:latin typeface="Arial"/>
              </a:defRPr>
            </a:pPr>
            <a:r>
              <a:t>Search radius = PL × K (not max(sde,sdn) box)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67328" y="-18288"/>
            <a:ext cx="8138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3 — CMM Contributions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16152"/>
            <a:ext cx="411480" cy="41148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0" y="1188720"/>
            <a:ext cx="10515600" cy="960120"/>
          </a:xfrm>
          <a:prstGeom prst="roundRect">
            <a:avLst/>
          </a:prstGeom>
          <a:solidFill>
            <a:srgbClr val="F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l">
              <a:defRPr sz="2000" b="1">
                <a:solidFill>
                  <a:srgbClr val="C00000"/>
                </a:solidFill>
                <a:latin typeface="Arial"/>
              </a:defRPr>
            </a:pPr>
            <a:r>
              <a:t>Full Probabilistic Propagation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GNSS covariance drives emission (log-Gaussian PDF), transition (UBODT lookup), and accumulates uncertainty via PHMI leak probability throughout the HMM chain.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50592"/>
            <a:ext cx="411480" cy="41148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2423160"/>
            <a:ext cx="10515600" cy="960120"/>
          </a:xfrm>
          <a:prstGeom prst="roundRect">
            <a:avLst/>
          </a:prstGeom>
          <a:solidFill>
            <a:srgbClr val="E0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l">
              <a:defRPr sz="2000" b="1">
                <a:solidFill>
                  <a:srgbClr val="0070C0"/>
                </a:solidFill>
                <a:latin typeface="Arial"/>
              </a:defRPr>
            </a:pPr>
            <a:r>
              <a:t>PHMI-Based Integrity Framework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Protection levels bound search radius; PHMI routes uncertainty to unconsidered state; provides formal guarantee that unallocated probability ≤ 10⁻⁵.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685032"/>
            <a:ext cx="411480" cy="411480"/>
          </a:xfrm>
          <a:prstGeom prst="round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3657600"/>
            <a:ext cx="10515600" cy="960120"/>
          </a:xfrm>
          <a:prstGeom prst="roundRect">
            <a:avLst/>
          </a:prstGeom>
          <a:solidFill>
            <a:srgbClr val="E0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l">
              <a:defRPr sz="2000" b="1">
                <a:solidFill>
                  <a:srgbClr val="008040"/>
                </a:solidFill>
                <a:latin typeface="Arial"/>
              </a:defRPr>
            </a:pPr>
            <a:r>
              <a:t>Trustworthiness Evaluation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Layer entropy (ΔH) quantifies per-epoch information gain; sliding-window path margin detects path-level ambiguity; enables diagnostic fault classification.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919472"/>
            <a:ext cx="411480" cy="411480"/>
          </a:xfrm>
          <a:prstGeom prst="roundRect">
            <a:avLst/>
          </a:prstGeom>
          <a:solidFill>
            <a:srgbClr val="E07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4892040"/>
            <a:ext cx="10515600" cy="960120"/>
          </a:xfrm>
          <a:prstGeom prst="roundRect">
            <a:avLst/>
          </a:prstGeom>
          <a:solidFill>
            <a:srgbClr val="FC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l">
              <a:defRPr sz="2000" b="1">
                <a:solidFill>
                  <a:srgbClr val="E07010"/>
                </a:solidFill>
                <a:latin typeface="Arial"/>
              </a:defRPr>
            </a:pPr>
            <a:r>
              <a:t>Resilient Trajectory Handling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Gap bridging with speed constraints (144 km/h); trajectory segmentation by time interval; disconnected sub-segment recovery via TransitionGraph restart.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179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Arial"/>
              </a:defRPr>
            </a:pPr>
            <a:r>
              <a:t>Codebase: src/mm/cmm/ (C++17, ~2300 lines)  |  Python SWIG bindings  |  OpenMP batch parallel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00000"/>
                </a:solidFill>
                <a:latin typeface="Calibri"/>
              </a:defRPr>
            </a:pPr>
            <a:r>
              <a:t>Section 2: Probabilistic Propagation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67328" y="-18288"/>
            <a:ext cx="8138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4 — System Input: CMMTrajectory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5303520" cy="182880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// cmm_algorithm.hpp:228-252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struct CMMTrajectory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int id;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CORE::LineString geom;             // WKT geometry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vector&lt;double&gt; timestamps;          // [t0,t1,...]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vector&lt;CovarianceMatrix&gt; covariances;  // per point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vector&lt;double&gt; protection_levels;   // per point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};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struct CovarianceMatrix {               // 6 elements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double sde,sdn,sdu;     // std-dev E,N,U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double sdne,sdeu,sdun;  // covariances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};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70C0"/>
                </a:solidFill>
                <a:latin typeface="Arial"/>
              </a:defRPr>
            </a:pPr>
            <a:r>
              <a:t>CSV Input (aggregated format)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Columns (semicolon-separated):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2011680"/>
            <a:ext cx="5303520" cy="14630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id;geom;timestamps;covariances;protection_levels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000000"/>
                </a:solidFill>
                <a:latin typeface="Arial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geom = LINESTRING(lon1 lat1, lon2 lat2, ...)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timestamps = [1234567890.0, 1234567891.0, ...]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covariances = [[0.68,0.69,0.81,0.033,0,0], ...]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protection_levels = [1.38, 1.38, 1.39, ...]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00000"/>
                </a:solidFill>
                <a:latin typeface="Arial"/>
              </a:defRPr>
            </a:pPr>
            <a:r>
              <a:t>Coordinate Reprojection (Jacobian Propagation)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Input EPSG:4326 (lon/lat)  →  Network CRS (projected meters)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t>Numerical Jacobian per point: perturb lon/lat by δ=1e-6, compute ∂(proj_x, proj_y)/∂(lon, lat)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114800"/>
            <a:ext cx="11064240" cy="210312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// cmm_algorithm.cpp:536-558 — Covariance propagation via Jacobian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Matrix2d J = [[dx/dlon, dx/dlat],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      [dy/dlon, dy/dlat]];    // numerical partial derivatives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// Propagate 2D covariance from geographic to projected CRS: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Matrix2d cov2d   = cov.to_2d_matrix();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Matrix2d temp    = J * cov2d;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Matrix2d cov_new = temp * transpose(J);    //  Sigma_proj = J·Sigma_geo·J^T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cov.sde  = sqrt(max(cov_new[0][0], 0.0));  // updated East std-dev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cov.sdn  = sqrt(max(cov_new[1][1], 0.0));  // updated North std-dev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cov.sdne = cov_new[0][1];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67328" y="-18288"/>
            <a:ext cx="8138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5 — Emission Probability (Log-Space Gaussian)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11064240" cy="1097280"/>
          </a:xfrm>
          <a:prstGeom prst="roundRect">
            <a:avLst/>
          </a:prstGeom>
          <a:solidFill>
            <a:srgbClr val="F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ctr">
              <a:defRPr sz="2000" b="1">
                <a:solidFill>
                  <a:srgbClr val="C00000"/>
                </a:solidFill>
                <a:latin typeface="Arial"/>
              </a:defRPr>
            </a:pPr>
            <a:r>
              <a:t>Core formula:  log P(z_t | x_t = edge) = −½ · [log(2π) + log|Σ_eff| + dᵀ · Σ_eff⁻¹ · d]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0C0"/>
                </a:solidFill>
                <a:latin typeface="Arial"/>
              </a:defRPr>
            </a:pPr>
            <a:r>
              <a:t>Effective Covariance:  Σ_eff = Σ_GPS + σ_map² · I   (additive isotropic map noise)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0000"/>
                </a:solidFill>
                <a:latin typeface="Arial"/>
              </a:defRPr>
            </a:pPr>
            <a:r>
              <a:t>• Log-space computation: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301752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Prevents numerical underflow when P ≈ 10⁻³⁰ in projected coordinates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2043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0C0"/>
                </a:solidFill>
                <a:latin typeface="Arial"/>
              </a:defRPr>
            </a:pPr>
            <a:r>
              <a:t>• Min GPS error clamping: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3520439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min_gps_error_degrees² floor on variance — prevents over-confidence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040"/>
                </a:solidFill>
                <a:latin typeface="Arial"/>
              </a:defRPr>
            </a:pPr>
            <a:r>
              <a:t>• Anisotropy preservation: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402336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Scale sde,sdn proportionally when clamping — ratio preserved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26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7010"/>
                </a:solidFill>
                <a:latin typeface="Arial"/>
              </a:defRPr>
            </a:pPr>
            <a:r>
              <a:t>• Additive map noise: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452628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σ_map² on diagonal of Σ — unknown map centerline offset prior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29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Arial"/>
              </a:defRPr>
            </a:pPr>
            <a:r>
              <a:t>• Singularity guard: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502920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det ≤ 1e-50 → return −∞ — protects against degenerate covariance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669280"/>
            <a:ext cx="11064240" cy="82296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// cmm_algorithm.cpp:786-825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double mahalanobis_sq = cov_inv[0][0]*dx*dx + 2*cov_inv[0][1]*dx*dy + cov_inv[1][1]*dy*dy;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return -0.5 * (log(2*M_PI) + log(det + 1e-12) + mahalanobis_sq);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67328" y="-18288"/>
            <a:ext cx="8138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6 — Candidate Search with Protection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00000"/>
                </a:solidFill>
                <a:latin typeface="Arial"/>
              </a:defRPr>
            </a:pPr>
            <a:r>
              <a:t>Search Radius &amp; Candidate Generation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search_radius = protection_level × K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• Phase 1: KNN spatial query within search_radius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• Phase 2: Mahalanobis-optimal projection onto each edge segment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t>  (anisotropic, not orthogonal — respects covariance)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• Phase 3: Sort by Mahalanobis metric, keep top-k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• Fallback: if &lt; min_candidates, double search_radius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• Also creates edge-endpoint candidates (source/target nodes)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188720"/>
            <a:ext cx="5303520" cy="320040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// cmm_algorithm.cpp:829-1126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for (int i = 0; i &lt; num_points; ++i)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CovarianceMatrix cov = covariances[i];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// Enforce min sigma (preserves anisotropy)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double min_sig = min(cov.sde, cov.sdn);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if (min_sig &lt; MIN_SIGMA)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scale = MIN_SIGMA / min_sig;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cov.sde *= scale; cov.sdn *= scale;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cov.sdne *= (scale*scale);  // variance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radius = PL[i] * config.multiplier;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// KNN → edge projections with cov_inv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67328" y="-18288"/>
            <a:ext cx="8138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7 — PHMI Framework for Integrity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11064240" cy="731520"/>
          </a:xfrm>
          <a:prstGeom prst="roundRect">
            <a:avLst/>
          </a:prstGeom>
          <a:solidFill>
            <a:srgbClr val="F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ctr">
              <a:defRPr sz="2000" b="1">
                <a:solidFill>
                  <a:srgbClr val="C00000"/>
                </a:solidFill>
                <a:latin typeface="Arial"/>
              </a:defRPr>
            </a:pPr>
            <a:r>
              <a:t>PHMI = Probability of Hazardously Misleading Information (default 10⁻⁵)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00000"/>
                </a:solidFill>
                <a:latin typeface="Arial"/>
              </a:defRPr>
            </a:pPr>
            <a:r>
              <a:t>How PHMI Works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1. Emission normalization: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000" b="0">
                <a:solidFill>
                  <a:srgbClr val="0070C0"/>
                </a:solidFill>
                <a:latin typeface="Arial"/>
              </a:defRPr>
            </a:pPr>
            <a:r>
              <a:t>   P(c_i) = (1−PHMI) × P_raw(c_i) / Σⱼ P_raw(c_j)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2. PHMI routed to "unconsidered" leak state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3. Leak accumulates across epochs via log_sum_exp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4. Dead-end branches → 100% to unconsidered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389120"/>
            <a:ext cx="5303520" cy="164592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// cmm_algorithm.cpp:1100-1117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double one_minus_phmi = 1.0 - config.phmi;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for (size_t k = 0; k &lt; raw.size(); ++k)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double linear_ep_norm =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one_minus_phmi * (exp(raw[k]) / sum);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log_eps.push_back(log(linear_ep_norm));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// Unconsidered state starts with PHMI: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log_prob_unconsidered = log(config.phmi);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94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70C0"/>
                </a:solidFill>
                <a:latin typeface="Arial"/>
              </a:defRPr>
            </a:pPr>
            <a:r>
              <a:t>Leak Probability Accumulation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Forward sum across epochs: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000" b="0">
                <a:solidFill>
                  <a:srgbClr val="0070C0"/>
                </a:solidFill>
                <a:latin typeface="Arial"/>
              </a:defRPr>
            </a:pPr>
            <a:r>
              <a:t>L(t+1) = log_sum_exp[ L(t),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000" b="0">
                <a:solidFill>
                  <a:srgbClr val="0070C0"/>
                </a:solidFill>
                <a:latin typeface="Arial"/>
              </a:defRPr>
            </a:pPr>
            <a:r>
              <a:t>  cumu(a₁)+log(PHMI), cumu(a₂)+log(PHMI), ... 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000000"/>
                </a:solidFill>
                <a:latin typeface="Arial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Three leak sources per epoch: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666666"/>
                </a:solidFill>
                <a:latin typeface="Arial"/>
              </a:defRPr>
            </a:pPr>
            <a:r>
              <a:t>  1. Base PHMI from emission normalization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666666"/>
                </a:solidFill>
                <a:latin typeface="Arial"/>
              </a:defRPr>
            </a:pPr>
            <a:r>
              <a:t>  2. Dead-end branches (no valid routes)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666666"/>
                </a:solidFill>
                <a:latin typeface="Arial"/>
              </a:defRPr>
            </a:pPr>
            <a:r>
              <a:t>  3. Continuation of prior leak state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6400800" y="5120640"/>
            <a:ext cx="5303520" cy="914400"/>
          </a:xfrm>
          <a:prstGeom prst="roundRect">
            <a:avLst/>
          </a:prstGeom>
          <a:solidFill>
            <a:srgbClr val="E0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ctr">
              <a:defRPr sz="1600" b="1">
                <a:solidFill>
                  <a:srgbClr val="0070C0"/>
                </a:solidFill>
                <a:latin typeface="Arial"/>
              </a:defRPr>
            </a:pPr>
            <a:r>
              <a:t>Guarantee: total unallocated probability mass ≤ PHMI at all times.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00000"/>
                </a:solidFill>
                <a:latin typeface="Calibri"/>
              </a:defRPr>
            </a:pPr>
            <a:r>
              <a:t>Section 3: Transition Model &amp; Viterbi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67328" y="-18288"/>
            <a:ext cx="8138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8 — Transition Probability &amp; UBODT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00000"/>
                </a:solidFill>
                <a:latin typeface="Arial"/>
              </a:defRPr>
            </a:pPr>
            <a:r>
              <a:t>UBODT-Based SP Distance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UBODT = Upper-Bounded Origin-Destination Table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666666"/>
                </a:solidFill>
                <a:latin typeface="Arial"/>
              </a:defRPr>
            </a:pPr>
            <a:r>
              <a:t>• Precomputed all-pairs shortest paths on road network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• O(1) lookup: get_sp_dist(ca, cb) → road-network distance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• Same edge check, direct connection check, then UBODT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560320"/>
            <a:ext cx="5486400" cy="274320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// cmm_algorithm.cpp:1528-1570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double get_sp_dist(ca, cb, rev_tol)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// Same edge: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if (ca-&gt;edge-&gt;id == cb-&gt;edge-&gt;id)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if (ca-&gt;offset &lt;= cb-&gt;offset)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    return cb-&gt;offset - ca-&gt;offset;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else if (rev_tol &gt; 0 &amp;&amp;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  (ca-&gt;offset - cb-&gt;offset) &lt;=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  ca-&gt;edge-&gt;len * rev_tol)  return 0;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// Direct connection: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if (ca-&gt;edge-&gt;target == cb-&gt;edge-&gt;source)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return ca-&gt;len - ca-&gt;offset + cb-&gt;offset;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// UBODT O(1) lookup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Record* r = ubodt_-&gt;look_up(s, e);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if (r) return ca-&gt;len - ca-&gt;offset + r-&gt;cost + cb-&gt;offset;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return -1;  // no path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70C0"/>
                </a:solidFill>
                <a:latin typeface="Arial"/>
              </a:defRPr>
            </a:pPr>
            <a:r>
              <a:t>Transition Probability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Exponential decay based on route difference: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600" b="0">
                <a:solidFill>
                  <a:srgbClr val="666666"/>
                </a:solidFill>
                <a:latin typeface="Arial"/>
              </a:defRPr>
            </a:pPr>
            <a:r>
              <a:t>sp_dist = road network distance (from UBODT)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666666"/>
                </a:solidFill>
                <a:latin typeface="Arial"/>
              </a:defRPr>
            </a:pPr>
            <a:r>
              <a:t>eu_dist = Euclidean distance between observations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666666"/>
                </a:solidFill>
                <a:latin typeface="Arial"/>
              </a:defRPr>
            </a:pPr>
            <a:r>
              <a:t>β = config parameter for route deviation tolerance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TP = 0 when no road route exists (disconnected)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103120"/>
            <a:ext cx="5303520" cy="640080"/>
          </a:xfrm>
          <a:prstGeom prst="roundRect">
            <a:avLst/>
          </a:prstGeom>
          <a:solidFill>
            <a:srgbClr val="E0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l">
              <a:defRPr sz="2000" b="1">
                <a:solidFill>
                  <a:srgbClr val="0070C0"/>
                </a:solidFill>
                <a:latin typeface="Arial"/>
              </a:defRPr>
            </a:pPr>
            <a:r>
              <a:t>TP(a,b) = exp( −|sp_dist − eu_dist| / β 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4114800"/>
            <a:ext cx="5303520" cy="914400"/>
          </a:xfrm>
          <a:prstGeom prst="roundRect">
            <a:avLst/>
          </a:prstGeom>
          <a:solidFill>
            <a:srgbClr val="F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ctr">
              <a:defRPr sz="1300" b="1">
                <a:solidFill>
                  <a:srgbClr val="C00000"/>
                </a:solidFill>
                <a:latin typeface="Arial"/>
              </a:defRPr>
            </a:pPr>
            <a:r>
              <a:t>Reverse tolerance: allows limited backward movement on same edge (ratio of edge_length). Critical for creeping traffic.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67328" y="-18288"/>
            <a:ext cx="8138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9 — Log-Space Viterbi Forward Pass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11064240" cy="548640"/>
          </a:xfrm>
          <a:prstGeom prst="roundRect">
            <a:avLst/>
          </a:prstGeom>
          <a:solidFill>
            <a:srgbClr val="E0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ctr">
              <a:defRPr sz="2000" b="1">
                <a:solidFill>
                  <a:srgbClr val="0070C0"/>
                </a:solidFill>
                <a:latin typeface="Arial"/>
              </a:defRPr>
            </a:pPr>
            <a:r>
              <a:t>cumu_prob(b_t) = log_sum_exp_a[ cumu_prob(a_{t-1}) + log TP(a→b) ]  +  log EP(b_t)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920240"/>
            <a:ext cx="6400800" cy="274320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// cmm_algorithm.cpp:1633-1799 — update_layer_cmm()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for (each a in L_{t-1})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if (a.cumu_prob == -inf) continue;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for (each b in L_t)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sp = get_sp_dist(a.c, b.c);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if (sp &lt; 0) continue;  // no route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tp_raw = calc_tp(sp, eu_dist);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log_branch = a.cumu_prob + log(tp_raw);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incoming.push_back(log_branch);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if (log_branch &gt; best)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    best = log_branch;  best_prev = &amp;a;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}  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b.cumu_prob = log_sum_exp(incoming) + b.ep;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b.prev = best_prev;  // Viterbi backtrack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920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00000"/>
                </a:solidFill>
                <a:latin typeface="Arial"/>
              </a:defRPr>
            </a:pPr>
            <a:r>
              <a:t>6-Step Layer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23774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0000"/>
                </a:solidFill>
                <a:latin typeface="Consolas"/>
              </a:defRPr>
            </a:pPr>
            <a:r>
              <a:t>1. SP Distance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3774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onsolas"/>
              </a:defRPr>
            </a:pPr>
            <a:r>
              <a:t>UBODT O(1) lookup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8346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0000"/>
                </a:solidFill>
                <a:latin typeface="Consolas"/>
              </a:defRPr>
            </a:pPr>
            <a:r>
              <a:t>2. Raw TP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28346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onsolas"/>
              </a:defRPr>
            </a:pPr>
            <a:r>
              <a:t>calc_tp(sp, eu_dist)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32918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0000"/>
                </a:solidFill>
                <a:latin typeface="Consolas"/>
              </a:defRPr>
            </a:pPr>
            <a:r>
              <a:t>3. Branch Sum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3291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onsolas"/>
              </a:defRPr>
            </a:pPr>
            <a:r>
              <a:t>log_sum_exp(predecessors)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3749039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0000"/>
                </a:solidFill>
                <a:latin typeface="Consolas"/>
              </a:defRPr>
            </a:pPr>
            <a:r>
              <a:t>4. + Emission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374903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onsolas"/>
              </a:defRPr>
            </a:pPr>
            <a:r>
              <a:t>cumu_prob = sum + log EP(b)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42062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0000"/>
                </a:solidFill>
                <a:latin typeface="Consolas"/>
              </a:defRPr>
            </a:pPr>
            <a:r>
              <a:t>5. Leak Update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42062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onsolas"/>
              </a:defRPr>
            </a:pPr>
            <a:r>
              <a:t>log_prob_unconsidered accum.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46634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0000"/>
                </a:solidFill>
                <a:latin typeface="Consolas"/>
              </a:defRPr>
            </a:pPr>
            <a:r>
              <a:t>6. Entropy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46634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onsolas"/>
              </a:defRPr>
            </a:pPr>
            <a:r>
              <a:t>H_prior, H_post, ΔH computed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937760"/>
            <a:ext cx="11064240" cy="91440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// Numerical safety: all computations in log-space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// log_sum_exp prevents underflow when cumu_probs are very small (e.g., exp(-500))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// Dead-end branches route to unconsidered state, not -infinity (avoids information loss)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67328" y="-18288"/>
            <a:ext cx="8138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10 — Gap Bridging &amp; Trajectory Resilience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486400" cy="1005840"/>
          </a:xfrm>
          <a:prstGeom prst="roundRect">
            <a:avLst/>
          </a:prstGeom>
          <a:solidFill>
            <a:srgbClr val="F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l">
              <a:defRPr sz="2000" b="1">
                <a:solidFill>
                  <a:srgbClr val="C00000"/>
                </a:solidFill>
                <a:latin typeface="Arial"/>
              </a:defRPr>
            </a:pPr>
            <a:r>
              <a:t>Speed Constraint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dist / Δt &gt; 40 m/s (144 km/h) → automatic segment restart. Prevents impossible jumps across network.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468880"/>
            <a:ext cx="5486400" cy="1005840"/>
          </a:xfrm>
          <a:prstGeom prst="roundRect">
            <a:avLst/>
          </a:prstGeom>
          <a:solidFill>
            <a:srgbClr val="E0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l">
              <a:defRPr sz="2000" b="1">
                <a:solidFill>
                  <a:srgbClr val="0070C0"/>
                </a:solidFill>
                <a:latin typeface="Arial"/>
              </a:defRPr>
            </a:pPr>
            <a:r>
              <a:t>Time Interval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max_interval (default 180s) → split trajectory into independent segments. Handles long GPS outages.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749039"/>
            <a:ext cx="5486400" cy="1005840"/>
          </a:xfrm>
          <a:prstGeom prst="roundRect">
            <a:avLst/>
          </a:prstGeom>
          <a:solidFill>
            <a:srgbClr val="E0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l">
              <a:defRPr sz="2000" b="1">
                <a:solidFill>
                  <a:srgbClr val="008040"/>
                </a:solidFill>
                <a:latin typeface="Arial"/>
              </a:defRPr>
            </a:pPr>
            <a:r>
              <a:t>Spatial Gap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max_gap_distance (default 2000m) → bridging attempt limit. Prevents matching across disconnected regions.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00000"/>
                </a:solidFill>
                <a:latin typeface="Arial"/>
              </a:defRPr>
            </a:pPr>
            <a:r>
              <a:t>TransitionGraph Restart Protocol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645920"/>
            <a:ext cx="5303520" cy="274320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// cmm_algorithm.cpp:1400-1510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for (each epoch in segment)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double speed = dist / delta_t;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if (speed &gt; 40 || dt &gt; max_interval)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process_sub_segment(tg, indices);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tg = new TransitionGraph(...);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initialize_first_layer(tg[0]);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if (!connected)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if (enable_gap_bridging)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process_sub_segment(...);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restart TransitionGraph;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} else { mark as skipped;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4663440"/>
            <a:ext cx="5303520" cy="1371600"/>
          </a:xfrm>
          <a:prstGeom prst="roundRect">
            <a:avLst/>
          </a:prstGeom>
          <a:solidFill>
            <a:srgbClr val="E0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ctr">
              <a:defRPr sz="1300" b="1">
                <a:solidFill>
                  <a:srgbClr val="0070C0"/>
                </a:solidFill>
                <a:latin typeface="Arial"/>
              </a:defRPr>
            </a:pPr>
            <a:r>
              <a:t>The state of log_prob_unconsidered is reset to log(PHMI) after each restart. Skipped epochs are recorded as FAILED_DISCONNECTED with original_indices preserved.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00000"/>
                </a:solidFill>
                <a:latin typeface="Calibri"/>
              </a:defRPr>
            </a:pPr>
            <a:r>
              <a:t>Section 4: Trustworthiness Evaluation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67328" y="-18288"/>
            <a:ext cx="8138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11 — Two Complementary Trustworthiness Signals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11064240" cy="1188720"/>
          </a:xfrm>
          <a:prstGeom prst="roundRect">
            <a:avLst/>
          </a:prstGeom>
          <a:solidFill>
            <a:srgbClr val="F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l">
              <a:defRPr sz="2000" b="1">
                <a:solidFill>
                  <a:srgbClr val="C00000"/>
                </a:solidFill>
                <a:latin typeface="Arial"/>
              </a:defRPr>
            </a:pPr>
            <a:r>
              <a:t>Layer Entropy &amp; Delta Entropy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H_post(t) — instantaneous distributional uncertainty     ΔH(t) = H_prior − H_posterior — information gain from GPS observation z_t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51760"/>
            <a:ext cx="11064240" cy="1188720"/>
          </a:xfrm>
          <a:prstGeom prst="roundRect">
            <a:avLst/>
          </a:prstGeom>
          <a:solidFill>
            <a:srgbClr val="E0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l">
              <a:defRPr sz="2000" b="1">
                <a:solidFill>
                  <a:srgbClr val="0070C0"/>
                </a:solidFill>
                <a:latin typeface="Arial"/>
              </a:defRPr>
            </a:pPr>
            <a:r>
              <a:t>Sliding-Window Path Margin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margin(t) = p_rank1 − p_rank2    Top-3 beam search over contextual window of W epochs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114800"/>
            <a:ext cx="11064240" cy="1188720"/>
          </a:xfrm>
          <a:prstGeom prst="roundRect">
            <a:avLst/>
          </a:prstGeom>
          <a:solidFill>
            <a:srgbClr val="E0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l">
              <a:defRPr sz="2000" b="1">
                <a:solidFill>
                  <a:srgbClr val="008040"/>
                </a:solidFill>
                <a:latin typeface="Arial"/>
              </a:defRPr>
            </a:pPr>
            <a:r>
              <a:t>Threshold Filtering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Discard epochs where margin &gt; threshold (likely GPS multipath or map digitization error). Enables safety-critical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00000"/>
                </a:solidFill>
                <a:latin typeface="Arial"/>
              </a:defRPr>
            </a:pPr>
            <a:r>
              <a:t>Why two metrics?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Entropy is instantaneous (single epoch); Margin is contextual (path over window). Together they distinguish local ambiguity from path-level confusion.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852160"/>
            <a:ext cx="11064240" cy="73152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// cmm_algorithm.cpp:1590-1625 (1st layer), 1765-1782 (subsequent) — Delta entropy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// cmm_algorithm.cpp:1801-1900 — compute_window_trustworthiness (top-3 beam search)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// cmm_algorithm.cpp:1315-1323 — Threshold filtering: trust &lt;= config.trustworthiness_threshold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67328" y="-18288"/>
            <a:ext cx="8138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12 — Information Gain: ΔH = H_prior − H_posterior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00000"/>
                </a:solidFill>
                <a:latin typeface="Arial"/>
              </a:defRPr>
            </a:pPr>
            <a:r>
              <a:t>Layer Entropy Computation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From layer log-cumu-probs {ℓ₁, …, ℓ_N}: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1. LogSumExp normalization: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t>   ℓ_max = max(ℓᵢ);  S = log Σ exp(ℓᵢ−ℓ_max)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t>   log pᵢ = ℓᵢ − ℓ_max − 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2. Shannon entropy (bits):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000" b="0">
                <a:solidFill>
                  <a:srgbClr val="0070C0"/>
                </a:solidFill>
                <a:latin typeface="Arial"/>
              </a:defRPr>
            </a:pPr>
            <a:r>
              <a:t>   H = −Σ pᵢ · log₂(pᵢ)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000000"/>
                </a:solidFill>
                <a:latin typeface="Arial"/>
              </a:defRPr>
            </a:pPr>
          </a:p>
          <a:p>
            <a:pPr algn="l">
              <a:spcBef>
                <a:spcPts val="8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First epoch: H_prior = log₂(N_valid) [uniform]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Later: H_prior from prediction distribution: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t>  P_prior(b) ∝ Σ_a P(a)·TP(a,b)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70C0"/>
                </a:solidFill>
                <a:latin typeface="Arial"/>
              </a:defRPr>
            </a:pPr>
            <a:r>
              <a:t>Interpretation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ΔH in bits — quantifies how strongly the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GPS observation reduces uncertainty: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008040"/>
                </a:solidFill>
                <a:latin typeface="Arial"/>
              </a:defRPr>
            </a:pPr>
            <a:r>
              <a:t>  ΔH ≫ 0: strongly informative epoch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C00000"/>
                </a:solidFill>
                <a:latin typeface="Arial"/>
              </a:defRPr>
            </a:pPr>
            <a:r>
              <a:t>  ΔH ≈ 0: redundant or noisy observation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000000"/>
                </a:solidFill>
                <a:latin typeface="Arial"/>
              </a:defRPr>
            </a:pPr>
          </a:p>
          <a:p>
            <a:pPr algn="l"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C00000"/>
                </a:solidFill>
                <a:latin typeface="Arial"/>
              </a:defRPr>
            </a:pPr>
            <a:r>
              <a:t>Sudden ΔH drop → degraded GNSS quality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t>(entering urban canyon, signal multipath)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3657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00000"/>
                </a:solidFill>
                <a:latin typeface="Arial"/>
              </a:defRPr>
            </a:pPr>
            <a:r>
              <a:t>Example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4114800"/>
          <a:ext cx="338328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82296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N_valid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ΔH (bits)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Dominant (99%)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≈ 3.0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Uniform over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≈ 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Mid-confidence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≈ 1.2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4754880"/>
            <a:ext cx="5303520" cy="137160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// cmm_algorithm.cpp:1741-1763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double log_sum = log_sum_exp(logs);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double H = 0, inv_log2 = 1.0/log(2);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for (double lp : log_probs)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double p = exp(lp - log_sum);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if (p &gt; 0) H -= p * (lp-log_sum) * inv_log2;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67328" y="-18288"/>
            <a:ext cx="8138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13 — Sliding-Window Path Margin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00000"/>
                </a:solidFill>
                <a:latin typeface="Arial"/>
              </a:defRPr>
            </a:pPr>
            <a:r>
              <a:t>Why Window-Based?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Single-epoch entropy is myopic — a confident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emission may lead to a wrong downstream path.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Ambiguity only visible in full sub-trajectory.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Window length W controls context horizon.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926080"/>
            <a:ext cx="5943600" cy="320040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// cmm_algorithm.cpp:1801-1900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for (end_idx = 0; end_idx &lt; T; ++end_idx)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start = max(0, end_idx + 1 - W);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// 1. Seed emission log-probs at start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for (c at start) push_top_k(&amp;s[c], log_ep, 3);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// 2. Beam-search forward through window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for (cursor = start+1 ... end_idx)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for (b at cursor, a at cursor-1)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sp = get_sp_dist(a, b);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tp = calc_tp(sp, eu);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for (prev_log in prev_scores[a])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push_top_k(&amp;cur[b],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  prev_log+log(tp)+log_ep[b], 3);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}}}}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// 3. Collect, normalize, compute margin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log_norm = log_sum_exp(combined);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for (v in combined) v = exp(v - log_norm);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margin = combined[0] - combined[1];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1887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70C0"/>
                </a:solidFill>
                <a:latin typeface="Arial"/>
              </a:defRPr>
            </a:pPr>
            <a:r>
              <a:t>Complexity &amp; Design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600" b="0">
                <a:solidFill>
                  <a:srgbClr val="C00000"/>
                </a:solidFill>
                <a:latin typeface="Arial"/>
              </a:defRPr>
            </a:pPr>
            <a:r>
              <a:t>Exhaustive: O(K^W) — K=8,W=10 → 10⁹ ops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008040"/>
                </a:solidFill>
                <a:latin typeface="Arial"/>
              </a:defRPr>
            </a:pPr>
            <a:r>
              <a:t>Beam (k=3): O(W·K²·k) → ~2000 ops/window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000000"/>
                </a:solidFill>
                <a:latin typeface="Arial"/>
              </a:defRPr>
            </a:pPr>
          </a:p>
          <a:p>
            <a:pPr algn="l">
              <a:spcBef>
                <a:spcPts val="800"/>
              </a:spcBef>
              <a:spcAft>
                <a:spcPts val="20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Why k=3?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666666"/>
                </a:solidFill>
                <a:latin typeface="Arial"/>
              </a:defRPr>
            </a:pPr>
            <a:r>
              <a:t>• k=1: only Viterbi, no margin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666666"/>
                </a:solidFill>
                <a:latin typeface="Arial"/>
              </a:defRPr>
            </a:pPr>
            <a:r>
              <a:t>• k=2: margin but may miss 3rd distinct path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• k=3: balances diversity vs. computation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666666"/>
                </a:solidFill>
                <a:latin typeface="Arial"/>
              </a:defRPr>
            </a:pPr>
            <a:r>
              <a:t>• k&gt;3: diminishing returns (exponential pruning)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4480560"/>
            <a:ext cx="4846320" cy="548640"/>
          </a:xfrm>
          <a:prstGeom prst="roundRect">
            <a:avLst/>
          </a:prstGeom>
          <a:solidFill>
            <a:srgbClr val="E0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ctr">
              <a:defRPr sz="1300" b="1">
                <a:solidFill>
                  <a:srgbClr val="008040"/>
                </a:solidFill>
                <a:latin typeface="Arial"/>
              </a:defRPr>
            </a:pPr>
            <a:r>
              <a:t>margin &gt; 0.5  →  strong confidence   |   margin &lt; 0.1  →  likely fault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0" y="5212080"/>
          <a:ext cx="365760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640080"/>
                <a:gridCol w="640080"/>
                <a:gridCol w="73152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Epoch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p_1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p_2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Margin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t₁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0.95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0.03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0.92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High conf.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Near-tie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0.35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0.33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0.02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Discard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00000"/>
                </a:solidFill>
                <a:latin typeface="Calibri"/>
              </a:defRPr>
            </a:pPr>
            <a:r>
              <a:t>Section 5: Results &amp; Conclusion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67328" y="-18288"/>
            <a:ext cx="8138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14 — System Architecture &amp;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88720"/>
            <a:ext cx="1737360" cy="13716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300" b="1">
                <a:solidFill>
                  <a:srgbClr val="C00000"/>
                </a:solidFill>
                <a:latin typeface="Arial"/>
              </a:defRPr>
            </a:pPr>
            <a:r>
              <a:t>GPS File</a:t>
            </a:r>
            <a:br/>
            <a:r>
              <a:t>CSV/Point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Parse WKT</a:t>
            </a:r>
            <a:br/>
            <a:r>
              <a:t>+ metadata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79" y="16916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6666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40279" y="1188720"/>
            <a:ext cx="1737360" cy="13716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300" b="1">
                <a:solidFill>
                  <a:srgbClr val="0070C0"/>
                </a:solidFill>
                <a:latin typeface="Arial"/>
              </a:defRPr>
            </a:pPr>
            <a:r>
              <a:t>Reprojection</a:t>
            </a:r>
            <a:br/>
            <a:r>
              <a:t>EPSG→Network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Jacobian</a:t>
            </a:r>
            <a:br/>
            <a:r>
              <a:t>Propagation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39" y="16916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6666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188720"/>
            <a:ext cx="1737360" cy="13716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300" b="1">
                <a:solidFill>
                  <a:srgbClr val="008040"/>
                </a:solidFill>
                <a:latin typeface="Arial"/>
              </a:defRPr>
            </a:pPr>
            <a:r>
              <a:t>Candidate</a:t>
            </a:r>
            <a:br/>
            <a:r>
              <a:t>Search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PL × K radius</a:t>
            </a:r>
            <a:br/>
            <a:r>
              <a:t>Mahalanobis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6916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6666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199" y="1188720"/>
            <a:ext cx="1737360" cy="13716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E07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300" b="1">
                <a:solidFill>
                  <a:srgbClr val="E07010"/>
                </a:solidFill>
                <a:latin typeface="Arial"/>
              </a:defRPr>
            </a:pPr>
            <a:r>
              <a:t>Transition</a:t>
            </a:r>
            <a:br/>
            <a:r>
              <a:t>Graph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Log-Space</a:t>
            </a:r>
            <a:br/>
            <a:r>
              <a:t>Viterbi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59" y="16916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6666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188720"/>
            <a:ext cx="1737360" cy="13716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300" b="1">
                <a:solidFill>
                  <a:srgbClr val="C00000"/>
                </a:solidFill>
                <a:latin typeface="Arial"/>
              </a:defRPr>
            </a:pPr>
            <a:r>
              <a:t>Trustworthiness</a:t>
            </a:r>
            <a:br/>
            <a:r>
              <a:t>Evaluation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Sliding Window</a:t>
            </a:r>
            <a:br/>
            <a:r>
              <a:t>Margin &amp; ΔH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16916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6666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04120" y="1188720"/>
            <a:ext cx="1737360" cy="13716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300" b="1">
                <a:solidFill>
                  <a:srgbClr val="0070C0"/>
                </a:solidFill>
                <a:latin typeface="Arial"/>
              </a:defRPr>
            </a:pPr>
            <a:r>
              <a:t>Output</a:t>
            </a:r>
            <a:br/>
            <a:r>
              <a:t>CSV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Per-epoch</a:t>
            </a:r>
            <a:br/>
            <a:r>
              <a:t>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34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00000"/>
                </a:solidFill>
                <a:latin typeface="Arial"/>
              </a:defRPr>
            </a:pPr>
            <a:r>
              <a:t>Key Configuration Parameters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3291840"/>
          <a:ext cx="8138160" cy="3822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22960"/>
                <a:gridCol w="5029200"/>
              </a:tblGrid>
              <a:tr h="34747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Default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Number of candidates per point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min_candidates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Minimum candidates (triggers radius doubling)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protection_level_multiplier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Search radius = PL × K (K ≈ 5.33 for 10⁻⁵)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window_length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Points in sliding window for trustworthiness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phmi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1e-5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Probability of Hazardously Misleading Info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min_gps_error_degrees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1e-6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Minimum σ to prevent over-confidence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map_error_std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5e-6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Additive isotropic map noise (≈ 5m)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max_gap_distance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Maximum bridging distance (meters)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max_interval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180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Trajectory split threshold (seconds)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748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reverse_tolerance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Fraction of edge-length for reverse movement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67328" y="-18288"/>
            <a:ext cx="8138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15 — Experimental &amp; Diagnostic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00000"/>
                </a:solidFill>
                <a:latin typeface="Arial"/>
              </a:defRPr>
            </a:pPr>
            <a:r>
              <a:t>Comparison with Baseline FMM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Scenario: urban canyon with high multipath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666666"/>
                </a:solidFill>
                <a:latin typeface="Arial"/>
              </a:defRPr>
            </a:pPr>
            <a:r>
              <a:t>CMM uses anisotropic covariance + PHMI + trustworthiness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666666"/>
                </a:solidFill>
                <a:latin typeface="Arial"/>
              </a:defRPr>
            </a:pPr>
            <a:r>
              <a:t>FMM uses isotropic fixed-σ (300m search radius)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286000"/>
          <a:ext cx="36576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FMM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CMM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Match accuracy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78%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94%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Gap segments bridged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 of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Trust.-flagged epochs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 (of 200)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Avg ΔH (bits)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70C0"/>
                </a:solidFill>
                <a:latin typeface="Arial"/>
              </a:defRPr>
            </a:pPr>
            <a:r>
              <a:t>Fault Classification from Output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Combinational analysis of margin + ΔH: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920240"/>
          <a:ext cx="44805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280160"/>
                <a:gridCol w="1097280"/>
                <a:gridCol w="64008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Fault Type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Margin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ΔH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Root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GPS Multipath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Low (isolated)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Sharp drop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GNSS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GPS Signal 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Zero (multiple)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Zeros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GNSS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Map Offset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Low (persistent)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Normal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Map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Healthy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High (&gt;0.5)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High (&gt;1.0)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4023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8040"/>
                </a:solidFill>
                <a:latin typeface="Arial"/>
              </a:defRPr>
            </a:pPr>
            <a:r>
              <a:t>Output Data per Epoch (MatchedCandidate)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trustworthiness = sliding-window margin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delta_entropy   = ΔH in bits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nbest_trustworthiness = top-3 path scores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candidate_details = all candidates + EP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original_indices = pre-filter traceability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67328" y="-18288"/>
            <a:ext cx="8138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16 — 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365760" cy="36576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17043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Arial"/>
              </a:defRPr>
            </a:pPr>
            <a:r>
              <a:t>CMM is a full-stack probabilistic map matcher that leverages GNSS uncertainty throughout the pipeline — from anisotropic emission to transition integrity monitoring.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365760" cy="36576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13055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Arial"/>
              </a:defRPr>
            </a:pPr>
            <a:r>
              <a:t>Jacobian-based covariance reprojection + Mahalanobis candidate search enable accurate matching in projected CRS without losing directional error information.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54680"/>
            <a:ext cx="365760" cy="365760"/>
          </a:xfrm>
          <a:prstGeom prst="round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9067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Arial"/>
              </a:defRPr>
            </a:pPr>
            <a:r>
              <a:t>PHMI framework provides principled probabilistic bounds: unallocated probability ≤ 10⁻⁵, with dead-end branch protection and forward leak accumulation.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114800"/>
            <a:ext cx="365760" cy="365760"/>
          </a:xfrm>
          <a:prstGeom prst="roundRect">
            <a:avLst/>
          </a:prstGeom>
          <a:solidFill>
            <a:srgbClr val="E07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05079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Arial"/>
              </a:defRPr>
            </a:pPr>
            <a:r>
              <a:t>Trustworthiness delivers two orthogonal signals: instantaneous ΔH (information gain) and contextual margin (path ambiguity), enabling fault-type diagnosis.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074920"/>
            <a:ext cx="365760" cy="36576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01091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Arial"/>
              </a:defRPr>
            </a:pPr>
            <a:r>
              <a:t>Gap bridging with speed constraints, time-based segmentation, and TransitionGraph restarts handles real-world trajectory quality issues robustly.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179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Arial"/>
              </a:defRPr>
            </a:pPr>
            <a:r>
              <a:t>Open-source: src/mm/cmm/ (C++17)  |  Python API via SWIG  |  OpenMP batch processing  |  CLI + XML config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67328" y="-18288"/>
            <a:ext cx="8138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17 — Future 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365760" cy="36576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17043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0000"/>
                </a:solidFill>
                <a:latin typeface="Arial"/>
              </a:defRPr>
            </a:pPr>
            <a:r>
              <a:t>Real-Time 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572768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Arial"/>
              </a:defRPr>
            </a:pPr>
            <a:r>
              <a:t>Adapt CMM for online matching with incremental Viterbi and adaptive window lengths.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31720"/>
            <a:ext cx="365760" cy="36576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26771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0C0"/>
                </a:solidFill>
                <a:latin typeface="Arial"/>
              </a:defRPr>
            </a:pPr>
            <a:r>
              <a:t>3D Covariance (Height-Aided)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70048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Arial"/>
              </a:defRPr>
            </a:pPr>
            <a:r>
              <a:t>Leverage sdu component for vertical constraint — bridges, tunnels, multi-level roads.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29000"/>
            <a:ext cx="365760" cy="365760"/>
          </a:xfrm>
          <a:prstGeom prst="round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3649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8040"/>
                </a:solidFill>
                <a:latin typeface="Arial"/>
              </a:defRPr>
            </a:pPr>
            <a:r>
              <a:t>Adaptive PHMI Thresholds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767328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Arial"/>
              </a:defRPr>
            </a:pPr>
            <a:r>
              <a:t>Dynamic PHMI based on satellite visibility (DOP), time of day, and environment context.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526279"/>
            <a:ext cx="365760" cy="365760"/>
          </a:xfrm>
          <a:prstGeom prst="roundRect">
            <a:avLst/>
          </a:prstGeom>
          <a:solidFill>
            <a:srgbClr val="E07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46227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7010"/>
                </a:solidFill>
                <a:latin typeface="Arial"/>
              </a:defRPr>
            </a:pPr>
            <a:r>
              <a:t>Map Error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864607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Arial"/>
              </a:defRPr>
            </a:pPr>
            <a:r>
              <a:t>Learn per-edge σ_map from fleet data instead of fixed isotropic prior.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623559"/>
            <a:ext cx="365760" cy="36576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55955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66666"/>
                </a:solidFill>
                <a:latin typeface="Arial"/>
              </a:defRPr>
            </a:pPr>
            <a:r>
              <a:t>HD Map Conflation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961888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Arial"/>
              </a:defRPr>
            </a:pPr>
            <a:r>
              <a:t>Use trustworthiness margin to auto-flag map segments requiring human verification.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00000"/>
                </a:solidFill>
                <a:latin typeface="Arial"/>
              </a:defRPr>
            </a:pPr>
            <a:r>
              <a:t>Thank you for your attention!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47472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666666"/>
                </a:solidFill>
                <a:latin typeface="Arial"/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457200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0000"/>
                </a:solidFill>
                <a:latin typeface="Arial"/>
              </a:defRPr>
            </a:pPr>
            <a:r>
              <a:t>Email: ncz139@sjtu.edu.cn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t>Covariance Map Matching (CMM)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ncTemplate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font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tx1"/>
          </a:solidFill>
        </a:ln>
      </a:spPr>
      <a:bodyPr wrap="square" rtlCol="0" anchor="ctr">
        <a:noAutofit/>
      </a:bodyPr>
      <a:lstStyle>
        <a:defPPr algn="ctr">
          <a:buNone/>
          <a:defRPr dirty="0" err="1" smtClean="0"/>
        </a:defPPr>
      </a:lstStyle>
    </a:spDef>
    <a:ln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 anchor="ctr" anchorCtr="1">
        <a:spAutoFit/>
      </a:bodyPr>
      <a:lstStyle>
        <a:defPPr>
          <a:buNone/>
          <a:defRPr dirty="0"/>
        </a:defPPr>
      </a:lstStyle>
    </a:tx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gncTemplate" id="{831B3B7B-305C-44CA-A56B-47E1B70C9750}" vid="{6BDE5614-9BAD-4245-BF2C-3D61F9A0D6FB}"/>
    </a:ext>
  </a:extLst>
</a:theme>
</file>

<file path=ppt/theme/theme2.xml><?xml version="1.0" encoding="utf-8"?>
<a:theme xmlns:a="http://schemas.openxmlformats.org/drawingml/2006/main" name="SJTU ENG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学术报告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tx1"/>
          </a:solidFill>
        </a:ln>
      </a:spPr>
      <a:bodyPr wrap="square" rtlCol="0" anchor="ctr">
        <a:noAutofit/>
      </a:bodyPr>
      <a:lstStyle>
        <a:defPPr algn="ctr">
          <a:buNone/>
          <a:defRPr dirty="0" err="1" smtClean="0"/>
        </a:defPPr>
      </a:lstStyle>
    </a:spDef>
    <a:ln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 anchor="ctr" anchorCtr="1">
        <a:spAutoFit/>
      </a:bodyPr>
      <a:lstStyle>
        <a:defPPr>
          <a:buNone/>
          <a:defRPr dirty="0"/>
        </a:defPPr>
      </a:lstStyle>
    </a:tx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JTU ENG" id="{38185189-2893-43EC-8147-72E76D69278C}" vid="{24DB7DCA-9E6C-4BD8-AC5A-E4AE63C2A210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gncTemplate</Template>
  <TotalTime>21809</TotalTime>
  <Words>1982</Words>
  <Application>Microsoft Office PowerPoint</Application>
  <PresentationFormat>宽屏</PresentationFormat>
  <Paragraphs>256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等线</vt:lpstr>
      <vt:lpstr>Arial</vt:lpstr>
      <vt:lpstr>Calibri</vt:lpstr>
      <vt:lpstr>Cambria Math</vt:lpstr>
      <vt:lpstr>Wingdings</vt:lpstr>
      <vt:lpstr>gncTemplate</vt:lpstr>
      <vt:lpstr>SJTU ENG</vt:lpstr>
      <vt:lpstr>PowerPoint 演示文稿</vt:lpstr>
      <vt:lpstr>Application Scenario</vt:lpstr>
      <vt:lpstr>Problem to Address</vt:lpstr>
      <vt:lpstr>Objective and Significance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Framework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Chenzhang Ning</dc:creator>
  <cp:lastModifiedBy>Chenzhang Ning</cp:lastModifiedBy>
  <cp:revision>594</cp:revision>
  <dcterms:created xsi:type="dcterms:W3CDTF">2024-09-11T13:45:56Z</dcterms:created>
  <dcterms:modified xsi:type="dcterms:W3CDTF">2025-08-08T06:14:10Z</dcterms:modified>
</cp:coreProperties>
</file>