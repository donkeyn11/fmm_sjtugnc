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5C8A"/>
                </a:solidFill>
              </a:defRPr>
            </a:pPr>
            <a:r>
              <a:t>Fig. 1 — Graphical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Pipeline comparison: isotropic HMM (top) vs. covariance-aware CMM (bottom)</a:t>
            </a:r>
          </a:p>
        </p:txBody>
      </p:sp>
      <p:pic>
        <p:nvPicPr>
          <p:cNvPr id="5" name="Picture 4" descr="abstract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960120"/>
            <a:ext cx="11430000" cy="28443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2559" y="941832"/>
            <a:ext cx="11466576" cy="2880919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</a:defRPr>
            </a:pPr>
            <a:r>
              <a:t>SVG source embedded — double-click to open for vector editing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5C8A"/>
                </a:solidFill>
              </a:defRPr>
            </a:pPr>
            <a:r>
              <a:t>Fig. 4 — GNSS Covariance 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3-panel: skyplot, pseudorange noise model, error ellipse with semi-axes</a:t>
            </a:r>
          </a:p>
        </p:txBody>
      </p:sp>
      <p:pic>
        <p:nvPicPr>
          <p:cNvPr id="5" name="Picture 4" descr="co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960120"/>
            <a:ext cx="11430000" cy="48977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2559" y="941832"/>
            <a:ext cx="11466576" cy="4934371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</a:defRPr>
            </a:pPr>
            <a:r>
              <a:t>SVG source embedded — double-click to open for vector editing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5C8A"/>
                </a:solidFill>
              </a:defRPr>
            </a:pPr>
            <a:r>
              <a:t>Fig. 5 — HPL-Based Adaptive Candidate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2-panel: good geometry (tight search) vs. degraded geometry (wide search)</a:t>
            </a:r>
          </a:p>
        </p:txBody>
      </p:sp>
      <p:pic>
        <p:nvPicPr>
          <p:cNvPr id="5" name="Picture 4" descr="PL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438" y="960120"/>
            <a:ext cx="9124818" cy="5532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15150" y="941832"/>
            <a:ext cx="9161394" cy="5568696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</a:defRPr>
            </a:pPr>
            <a:r>
              <a:t>SVG source embedded — double-click to open for vector editing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5C8A"/>
                </a:solidFill>
              </a:defRPr>
            </a:pPr>
            <a:r>
              <a:t>Fig. 6 — Mahalanobis vs. Euclidean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Original anisotropic space vs. whitened isotropic space, Cholesky transform</a:t>
            </a:r>
          </a:p>
        </p:txBody>
      </p:sp>
      <p:pic>
        <p:nvPicPr>
          <p:cNvPr id="5" name="Picture 4" descr="maha_vs_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135" y="960120"/>
            <a:ext cx="9321424" cy="5532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16847" y="941832"/>
            <a:ext cx="9358000" cy="5568696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</a:defRPr>
            </a:pPr>
            <a:r>
              <a:t>SVG source embedded — double-click to open for vector editing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5C8A"/>
                </a:solidFill>
              </a:defRPr>
            </a:pPr>
            <a:r>
              <a:t>Fig. 7 — Emission Probability Under Whitening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Anisotropic Gaussian emission → isotropic Euclidean via Cholesky whitening</a:t>
            </a:r>
          </a:p>
        </p:txBody>
      </p:sp>
      <p:pic>
        <p:nvPicPr>
          <p:cNvPr id="5" name="Picture 4" descr="measpr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960120"/>
            <a:ext cx="11430000" cy="539853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2559" y="941832"/>
            <a:ext cx="11466576" cy="5435110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</a:defRPr>
            </a:pPr>
            <a:r>
              <a:t>SVG source embedded — double-click to open for vector editing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5C8A"/>
                </a:solidFill>
              </a:defRPr>
            </a:pPr>
            <a:r>
              <a:t>Fig. 8 — Trustworthiness Across Road Geometries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2x2: highway (high TW), junction (low), urban grid (medium-high), dual carriageway</a:t>
            </a:r>
          </a:p>
        </p:txBody>
      </p:sp>
      <p:pic>
        <p:nvPicPr>
          <p:cNvPr id="5" name="Picture 4" descr="trustworthi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433" y="960120"/>
            <a:ext cx="7094828" cy="5532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30145" y="941832"/>
            <a:ext cx="7131404" cy="5568696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</a:defRPr>
            </a:pPr>
            <a:r>
              <a:t>SVG source embedded — double-click to open for vector editing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5C8A"/>
                </a:solidFill>
              </a:defRPr>
            </a:pPr>
            <a:r>
              <a:t>Fig. 9 — Covariance Model Consistency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4-panel: chi-squared fit, P-P plot, whitened errors, radial CDF vs Rayleigh</a:t>
            </a:r>
          </a:p>
        </p:txBody>
      </p:sp>
      <p:pic>
        <p:nvPicPr>
          <p:cNvPr id="5" name="Picture 4" descr="consistenc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295" y="960120"/>
            <a:ext cx="6547104" cy="5532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804007" y="941832"/>
            <a:ext cx="6583680" cy="5568696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</a:defRPr>
            </a:pPr>
            <a:r>
              <a:t>SVG source embedded — double-click to open for vector editing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5C8A"/>
                </a:solidFill>
              </a:defRPr>
            </a:pPr>
            <a:r>
              <a:t>Fig. 16 — Hainan-06 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Haikou road network (152K edges) with 7 colored SPP trajectories + location inset</a:t>
            </a:r>
          </a:p>
        </p:txBody>
      </p:sp>
      <p:pic>
        <p:nvPicPr>
          <p:cNvPr id="5" name="Picture 4" descr="datase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706" y="960120"/>
            <a:ext cx="6848282" cy="5532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53418" y="941832"/>
            <a:ext cx="6884858" cy="5568696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65379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</a:defRPr>
            </a:pPr>
            <a:r>
              <a:t>SVG source embedded — double-click to open for vector editing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