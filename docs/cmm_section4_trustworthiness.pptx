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2743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Section 4: Trustworthiness Evaluation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t>Preventing Mismatch Errors from GNSS and Map Faults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1300" b="0">
                <a:solidFill>
                  <a:srgbClr val="007ACC"/>
                </a:solidFill>
                <a:latin typeface="Calibri"/>
              </a:defRPr>
            </a:pPr>
            <a:r>
              <a:t>Covariance Map Matching (CMM)  |  Chenzhang Ning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 — The Confidence Gap in Map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Traditional HMM map matching outputs only a maximum-likelihood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We get the optimal edge sequence, but no per-point confidence metric.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 This is insufficient for safety-critical applications.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1371600"/>
            <a:ext cx="1920240" cy="2286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defRPr sz="1500" b="1">
                <a:solidFill>
                  <a:srgbClr val="007ACC"/>
                </a:solidFill>
                <a:latin typeface="Calibri"/>
              </a:defRPr>
            </a:pPr>
            <a:r>
              <a:t>What we get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Optimal edges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Cumulative prob.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42828"/>
                </a:solidFill>
                <a:latin typeface="Calibri"/>
              </a:defRPr>
            </a:pPr>
            <a:r>
              <a:t>No confidence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9966960" y="1371600"/>
            <a:ext cx="1920240" cy="2286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/>
          <a:lstStyle/>
          <a:p>
            <a:pPr algn="l">
              <a:defRPr sz="1500" b="1">
                <a:solidFill>
                  <a:srgbClr val="288C50"/>
                </a:solidFill>
                <a:latin typeface="Calibri"/>
              </a:defRPr>
            </a:pPr>
            <a:r>
              <a:t>What we need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Certainty score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Ambiguity loc.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Fault diagnosis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89120"/>
            <a:ext cx="10515600" cy="2743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63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BC20"/>
                </a:solidFill>
                <a:latin typeface="Calibri"/>
              </a:defRPr>
            </a:pPr>
            <a:r>
              <a:t>Core Question: Can we quantify epistemic uncertainty in the matching decision at each epoch, using the same probabilistic framework that drove the match?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 — Two Complementary Trustworthiness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2000" b="1">
                <a:solidFill>
                  <a:srgbClr val="007ACC"/>
                </a:solidFill>
                <a:latin typeface="Calibri"/>
              </a:defRPr>
            </a:pPr>
            <a:r>
              <a:t>Layer Entropy &amp; Delta Entropy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AACCEE"/>
                </a:solidFill>
                <a:latin typeface="Calibri"/>
              </a:defRPr>
            </a:pPr>
            <a:r>
              <a:t>H_post(t) — distributional uncertainty at epoch t    |    ΔH(t) — information gained from observation z_t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Instantaneous — measures local ambiguity at a single GPS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solidFill>
            <a:srgbClr val="4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2000" b="1">
                <a:solidFill>
                  <a:srgbClr val="B42828"/>
                </a:solidFill>
                <a:latin typeface="Calibri"/>
              </a:defRPr>
            </a:pPr>
            <a:r>
              <a:t>Sliding-Window Path Margin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EEAAAA"/>
                </a:solidFill>
                <a:latin typeface="Calibri"/>
              </a:defRPr>
            </a:pPr>
            <a:r>
              <a:t>margin(t) = p_rank1 − p_rank2   |   Top-3 beam-search over a contextual window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Contextual — detects path-level ambiguity that entropy alone misses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931920"/>
            <a:ext cx="10332720" cy="1097280"/>
          </a:xfrm>
          <a:prstGeom prst="rect">
            <a:avLst/>
          </a:prstGeom>
          <a:solidFill>
            <a:srgbClr val="0A3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2000" b="1">
                <a:solidFill>
                  <a:srgbClr val="288C50"/>
                </a:solidFill>
                <a:latin typeface="Calibri"/>
              </a:defRPr>
            </a:pPr>
            <a:r>
              <a:t>Threshold Filtering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AAEEAA"/>
                </a:solidFill>
                <a:latin typeface="Calibri"/>
              </a:defRPr>
            </a:pPr>
            <a:r>
              <a:t>Discard epochs where margin exceeds threshold (likely GPS multipath or map digitization error)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Post-processing gate — enables safety-critical decision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Together they distinguish local ambiguity from path-level confusion — orthogonal dimensions of uncertainty.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 — Layer Entropy as Uncertainty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For layer with N valid candidates having log-cumulative probabilities {ℓ₁, …, ℓₙ}: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515600" cy="77724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Step 1 — LogSumExp normalization (numerically stable):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ℓ_max = max(ℓᵢ);   S = log Σ exp(ℓᵢ − ℓ_max);   log pᵢ_norm = ℓᵢ − ℓ_max − 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880360"/>
            <a:ext cx="10515600" cy="685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Step 2 — Shannon entropy (bits):    H = −Σ pᵢ_norm · log₂(pᵢ_norm)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H ≈ 0 → one candidate dominates (high confidence)   |   H ≈ log₂(N) → uniform distribution (maximum ambiguity)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840480"/>
            <a:ext cx="10515600" cy="1280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Source: cmm_algorithm.cpp:1741-1763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double log_sum = log_sum_exp(layer_log_probs);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double inv_log2 = 1.0 / std::log(2.0);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for (double log_p : layer_log_probs)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double log_norm = log_p - log_sum;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double p_norm = std::exp(log_norm);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if (p_norm &gt; 0.0)  layer_entropy -= p_norm * log_norm * inv_log2;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4 — Information Gain: ΔH = H_prior − H_posterior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Delta entropy quantifies how much the current GPS observation z_t reduces uncertainty.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12064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First Epoch (t = 0)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 prior from propagation → uniform prior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H_prior = log₂(N_valid)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88C50"/>
                </a:solidFill>
                <a:latin typeface="Calibri"/>
              </a:defRPr>
            </a:pPr>
            <a:r>
              <a:t>ΔH = log₂(N_valid) − H_posterior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920240"/>
            <a:ext cx="5120640" cy="16459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defRPr sz="1800" b="1">
                <a:solidFill>
                  <a:srgbClr val="007ACC"/>
                </a:solidFill>
                <a:latin typeface="Calibri"/>
              </a:defRPr>
            </a:pPr>
            <a:r>
              <a:t>Subsequent Epochs (t &gt; 0)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Prior = prediction from previous layer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P_prior(b) ∝ Σ_a P(a)·TP(a,b)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1">
                <a:solidFill>
                  <a:srgbClr val="288C50"/>
                </a:solidFill>
                <a:latin typeface="Calibri"/>
              </a:defRPr>
            </a:pPr>
            <a:r>
              <a:t>ΔH = H_prior − H_posterior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418320" cy="914400"/>
          </a:xfrm>
          <a:prstGeom prst="rect">
            <a:avLst/>
          </a:prstGeom>
          <a:solidFill>
            <a:srgbClr val="0A2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ΔH(t) = H[ P(x_t | z_{1:t-1}) ]  −  H[ P(x_t | z_{1:t}) ]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prediction entropy                      update (posterior) entropy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ΔH ≫ 0:  observation strongly disambiguates — informative   |   ΔH ≈ 0:  observation adds little — redundant or noisy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 — Delta Entropy: First Layer (initialize_first_layer)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583680" cy="14630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Source: cmm_algorithm.cpp:1590-1625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Step 1: posterior entropy from cumu_probs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(same Shannon entropy as before)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Step 2: uniform prior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double H_prior = std::log2(static_cast&lt;double&gt;(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layer_log_probs.size()));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delta_layer_entropy = H_prior - layer_entropy;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if (delta_layer_entropy &lt; 0.0)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delta_layer_entropy = 0.0;</a:t>
            </a:r>
          </a:p>
        </p:txBody>
      </p:sp>
      <p:sp>
        <p:nvSpPr>
          <p:cNvPr id="5" name="Rectangle 4"/>
          <p:cNvSpPr/>
          <p:nvPr/>
        </p:nvSpPr>
        <p:spPr>
          <a:xfrm>
            <a:off x="7589520" y="1371600"/>
            <a:ext cx="4114800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Example Scenarios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89520" y="1691640"/>
          <a:ext cx="3200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3152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ΔH (bits)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Dominant (99%)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≈ 3.0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Uniform over 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≈ 0.0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Mid (top 60%)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≈ 1.2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200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C20"/>
                </a:solidFill>
                <a:latin typeface="Calibri"/>
              </a:defRPr>
            </a:pPr>
            <a:r>
              <a:t>Why ΔH ≥ 0 is clamped: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Entropy cannot decrease below zero — a uniform prior has maximum entropy.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ΔH &lt; 0 would imply the posterior is more uncertain than the prior — numerical artifact.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The first layer always starts from maximal uncertainty (uniform).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 — Delta Entropy: Subsequent Layers (update_layer_cmm)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329184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ACC"/>
                </a:solidFill>
                <a:latin typeface="Calibri"/>
              </a:defRPr>
            </a:pPr>
            <a:r>
              <a:t>Prediction</a:t>
            </a:r>
            <a:br/>
            <a:r>
              <a:t>P(x_t | z_{1:t-1})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39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371600"/>
            <a:ext cx="329184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0BC20"/>
                </a:solidFill>
                <a:latin typeface="Calibri"/>
              </a:defRPr>
            </a:pPr>
            <a:r>
              <a:t>× EP(z_t)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371600"/>
            <a:ext cx="329184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88C50"/>
                </a:solidFill>
                <a:latin typeface="Calibri"/>
              </a:defRPr>
            </a:pPr>
            <a:r>
              <a:t>Posterior</a:t>
            </a:r>
            <a:br/>
            <a:r>
              <a:t>P(x_t | z_{1:t})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During update_layer_cmm, accumulate prediction log-probs before multiplying by EP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double log_sum_prev_probs = log_sum_exp(incoming_log_probs);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layer_prior_log_probs.push_back(log_sum_prev_probs);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Then combine with EP to get posterior: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node_b.cumu_prob = log_sum_prev_probs + node_b.ep;  // posterior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Separate entropy on layer_prior_log_probs → H_prior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Separate entropy on layer_log_probs → H_posterior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ΔH = H_prior − H_posterior  (cmm_algorithm.cpp:1781)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Key Insight: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ΔH isolates the marginal contribution of each epoch's GPS observation to the inference.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B42828"/>
                </a:solidFill>
                <a:latin typeface="Calibri"/>
              </a:defRPr>
            </a:pPr>
            <a:r>
              <a:t>A sudden drop in ΔH signals degraded GNSS quality (e.g., entering an urban canyon).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666666"/>
                </a:solidFill>
                <a:latin typeface="Calibri"/>
              </a:defRPr>
            </a:pPr>
            <a:r>
              <a:t>• This enables real-time GNSS fault detection within the matching pipeline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7 — Why a Window-Based Metric?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2828"/>
                </a:solidFill>
                <a:latin typeface="Calibri"/>
              </a:defRPr>
            </a:pPr>
            <a:r>
              <a:t>Single-epoch entropy is myopic: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A confident emission at t may lead to a wrong downstream path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Ambiguity only becomes visible when considering the full sub-trajectory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6400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t1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080" y="2743200"/>
            <a:ext cx="6400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t2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2743200"/>
            <a:ext cx="6400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t3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39" y="2743200"/>
            <a:ext cx="6400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743200"/>
            <a:ext cx="6400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2743200"/>
            <a:ext cx="6400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743200"/>
            <a:ext cx="64008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59" y="274320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74320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2519" y="274320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0" y="274320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9880" y="274320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7ACC"/>
                </a:solidFill>
                <a:latin typeface="Calibri"/>
              </a:defRPr>
            </a:pPr>
            <a:r>
              <a:t>window (len=6), centered at t_7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93192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393192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3931920"/>
            <a:ext cx="640080" cy="45720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39" y="3931920"/>
            <a:ext cx="640080" cy="45720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931920"/>
            <a:ext cx="640080" cy="45720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3931920"/>
            <a:ext cx="640080" cy="45720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79" y="3931920"/>
            <a:ext cx="640080" cy="45720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59" y="3931920"/>
            <a:ext cx="640080" cy="45720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3931920"/>
            <a:ext cx="640080" cy="457200"/>
          </a:xfrm>
          <a:prstGeom prst="rect">
            <a:avLst/>
          </a:prstGeom>
          <a:solidFill>
            <a:srgbClr val="B4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19" y="393192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393192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69880" y="393192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6118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2828"/>
                </a:solidFill>
                <a:latin typeface="Calibri"/>
              </a:defRPr>
            </a:pPr>
            <a:r>
              <a:t>window (len=6), centered at t_9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512064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512064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512064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39" y="512064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0" y="5120640"/>
            <a:ext cx="640080" cy="457200"/>
          </a:xfrm>
          <a:prstGeom prst="rect">
            <a:avLst/>
          </a:prstGeom>
          <a:solidFill>
            <a:srgbClr val="28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57800" y="5120640"/>
            <a:ext cx="640080" cy="457200"/>
          </a:xfrm>
          <a:prstGeom prst="rect">
            <a:avLst/>
          </a:prstGeom>
          <a:solidFill>
            <a:srgbClr val="28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79" y="5120640"/>
            <a:ext cx="640080" cy="457200"/>
          </a:xfrm>
          <a:prstGeom prst="rect">
            <a:avLst/>
          </a:prstGeom>
          <a:solidFill>
            <a:srgbClr val="28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59" y="5120640"/>
            <a:ext cx="640080" cy="457200"/>
          </a:xfrm>
          <a:prstGeom prst="rect">
            <a:avLst/>
          </a:prstGeom>
          <a:solidFill>
            <a:srgbClr val="28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5120640"/>
            <a:ext cx="640080" cy="457200"/>
          </a:xfrm>
          <a:prstGeom prst="rect">
            <a:avLst/>
          </a:prstGeom>
          <a:solidFill>
            <a:srgbClr val="28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32519" y="5120640"/>
            <a:ext cx="640080" cy="457200"/>
          </a:xfrm>
          <a:prstGeom prst="rect">
            <a:avLst/>
          </a:prstGeom>
          <a:solidFill>
            <a:srgbClr val="28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0" y="5120640"/>
            <a:ext cx="640080" cy="457200"/>
          </a:xfrm>
          <a:prstGeom prst="rect">
            <a:avLst/>
          </a:prstGeom>
          <a:solidFill>
            <a:srgbClr val="28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69880" y="5120640"/>
            <a:ext cx="640080" cy="4572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66666"/>
                </a:solidFill>
                <a:latin typeface="Calibri"/>
              </a:defRPr>
            </a:pPr>
            <a:r>
              <a:t>t12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800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88C50"/>
                </a:solidFill>
                <a:latin typeface="Calibri"/>
              </a:defRPr>
            </a:pPr>
            <a:r>
              <a:t>window (len=6), centered at t_11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5852160"/>
            <a:ext cx="9418320" cy="548640"/>
          </a:xfrm>
          <a:prstGeom prst="rect">
            <a:avLst/>
          </a:prstGeom>
          <a:solidFill>
            <a:srgbClr val="0A2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For each window [t−k+1, t]:  beam-search top-3 path scores → margin(t) = p_rank1 − p_rank2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 — Sliding-Window Algorithm (compute_window_trustworthiness)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132320" cy="457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Source: cmm_algorithm.cpp:1801-1900      (top-K = 3)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for (size_t end_idx = 0; end_idx &lt; layer_count; ++end_idx)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start_idx = max(0, end_idx + 1 - window_length);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// 1. Seed: emission log-probs at start_idx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for (each candidate c at start) push_top_k(&amp;scores[c], log_ep, 3);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// 2. Forward beam through window [start+1...end]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for (cursor = start+1; cursor &lt;= end_idx; ++cursor)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    for (candidate b at cursor)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        for (candidate a at cursor-1)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            sp = get_sp_dist(a, b);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            if (sp &lt; 0) continue;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            tp = calc_tp(sp, euclidean_distance[cursor-1]);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            for each (prev_log in prev_scores[a])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                push_top_k(&amp;cur_scores[b], prev_log+log(tp)+log_ep[b], 3);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}   }   }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// 3. Collect combined top-3 from all ending candidates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// 4. LogSumExp normalize → linear probs → margin = combined[0]-combined[1]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371600"/>
            <a:ext cx="3657600" cy="22860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Complexity Analysis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  <a:latin typeface="Calibri"/>
              </a:defRPr>
            </a:pPr>
            <a:r>
              <a:t>Exhaustive: O(K^W)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K=8, W=10 → 8^10 ≈ 1e9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288C50"/>
                </a:solidFill>
                <a:latin typeface="Calibri"/>
              </a:defRPr>
            </a:pPr>
            <a:r>
              <a:t>Beam (k=3): O(W·K²·k)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66666"/>
                </a:solidFill>
                <a:latin typeface="Calibri"/>
              </a:defRPr>
            </a:pPr>
            <a:r>
              <a:t>  10·64·3 = 1920 ops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&gt; Online-capable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k=3 balances path diversity vs. computation   |   k=1 → no margin   |   k=2 → margin but may miss a 3rd distinct path   |   k&gt;3 → diminishing returns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9 — Trustworthiness Margin in Action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6858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97280"/>
                <a:gridCol w="1097280"/>
                <a:gridCol w="822960"/>
                <a:gridCol w="1828800"/>
                <a:gridCol w="12801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Epoch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rank-1 prob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rank-2 prob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t₁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0.03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0.92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Strong confidence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Trust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t₂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Near-tie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Flag for review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t₃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0.55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0.44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0.11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Moderate ambiguity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Flag for review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t₄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Strong confidence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Trust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t₅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 ambiguity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Discard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BC20"/>
                </a:solidFill>
                <a:latin typeface="Calibri"/>
              </a:defRPr>
            </a:pPr>
            <a:r>
              <a:t>Interpretation Guidelines: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88C50"/>
                </a:solidFill>
                <a:latin typeface="Calibri"/>
              </a:defRPr>
            </a:pPr>
            <a:r>
              <a:t>•  margin &gt; 0.5:  strong evidence for best path — can safely trust the match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E07A20"/>
                </a:solidFill>
                <a:latin typeface="Calibri"/>
              </a:defRPr>
            </a:pPr>
            <a:r>
              <a:t>•  margin ∈ [0.1, 0.5]:  moderate — review context before acting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B42828"/>
                </a:solidFill>
                <a:latin typeface="Calibri"/>
              </a:defRPr>
            </a:pPr>
            <a:r>
              <a:t>•  margin &lt; 0.1:  near-tie — likely GNSS multipath or map parallel road ambiguity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 — Trustworthiness Threshold Filtering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After Viterbi backtracking and window trustworthiness computation, a post-processing filter removes low-confidence epochs: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2286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CC"/>
                </a:solidFill>
                <a:latin typeface="Calibri"/>
              </a:defRPr>
            </a:pPr>
            <a:r>
              <a:t>Viterbi</a:t>
            </a:r>
            <a:br/>
            <a:r>
              <a:t>backtrack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103120"/>
            <a:ext cx="2286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0BC20"/>
                </a:solidFill>
                <a:latin typeface="Calibri"/>
              </a:defRPr>
            </a:pPr>
            <a:r>
              <a:t>Window</a:t>
            </a:r>
            <a:br/>
            <a:r>
              <a:t>trustworthiness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03120"/>
            <a:ext cx="2286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42828"/>
                </a:solidFill>
                <a:latin typeface="Calibri"/>
              </a:defRPr>
            </a:pPr>
            <a:r>
              <a:t>Threshold</a:t>
            </a:r>
            <a:br/>
            <a:r>
              <a:t>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103120"/>
            <a:ext cx="2286000" cy="9144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88C50"/>
                </a:solidFill>
                <a:latin typeface="Calibri"/>
              </a:defRPr>
            </a:pPr>
            <a:r>
              <a:t>Output</a:t>
            </a:r>
            <a:br/>
            <a:r>
              <a:t>filtered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Source: cmm_algorithm.cpp:1315-1323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if (!config.filtered || trust &lt;= config.trustworthiness_threshold)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filtered_path.push_back(mc);               // keep epoch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filtered_tg_opath.push_back(node);          // keep node for path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filtered_indices.push_back(sub_indices[i]); // track original index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BC20"/>
                </a:solidFill>
                <a:latin typeface="Calibri"/>
              </a:defRPr>
            </a:pPr>
            <a:r>
              <a:t>Output fields preserved: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 original_indices: pre-filter epoch indices for traceability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 nbest_trustworthiness: top-N log scores per point for post-hoc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 — Output Data Model (MatchedCandidate)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762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// mm_type.hpp:64-72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struct MatchedCandidate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Candidate c;               // candidate edge projection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double ep;                 // emission probability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double tp;                 // transition probability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double cumu_prob;          // cumulative log-prob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double sp_dist;            // shortest-path distance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double trustworthiness;    // window margin (CMM)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    double delta_entropy;      // ΔH in bits (CMM)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8EC870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0" y="1371600"/>
            <a:ext cx="4572000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417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Per-Epoch Fields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0" y="1691640"/>
          <a:ext cx="34747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trustworthiness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Window margin (p1−p2)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delta_entropy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Info gain in bits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cumu_prob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Cumulative log-prob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Emission probability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tp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Normalized transition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sp_dist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 distance to prev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32320" y="3840480"/>
            <a:ext cx="4572000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Per-Result Aggregates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132320" y="4160520"/>
          <a:ext cx="34747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nbest_trustworthiness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Top-N scores/point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original_indices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Pre-filter indices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candidate_details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All candidates + EP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SUCCESS/PARTIAL/FAIL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 — Diagnostic Use Cases: Fault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1828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defRPr sz="1800" b="1">
                <a:solidFill>
                  <a:srgbClr val="B42828"/>
                </a:solidFill>
                <a:latin typeface="Calibri"/>
              </a:defRPr>
            </a:pPr>
            <a:r>
              <a:t>Case 1: Urban Canyon Multipath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Dense high-rises → severe multipath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GPS errors become highly anisotropic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Cov ellipse covers multiple parallel roads → low margin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0BC20"/>
                </a:solidFill>
                <a:latin typeface="Calibri"/>
              </a:defRPr>
            </a:pPr>
            <a:r>
              <a:t>• ΔH drops sharply vs. open-sky segments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371600"/>
            <a:ext cx="5303520" cy="182880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/>
          <a:lstStyle/>
          <a:p>
            <a:pPr algn="l">
              <a:defRPr sz="1800" b="1">
                <a:solidFill>
                  <a:srgbClr val="E07A20"/>
                </a:solidFill>
                <a:latin typeface="Calibri"/>
              </a:defRPr>
            </a:pPr>
            <a:r>
              <a:t>Case 2: Map Digitization Error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Road centerline offset from true trajectory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Consistent GPS but geometric mismatch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• Multiple nearby edges have similar EP → persistently low margin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F0BC20"/>
                </a:solidFill>
                <a:latin typeface="Calibri"/>
              </a:defRPr>
            </a:pPr>
            <a:r>
              <a:t>• ΔH is normal (no GPS anomaly)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566160"/>
          <a:ext cx="722376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463040"/>
                <a:gridCol w="1371600"/>
                <a:gridCol w="109728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Fault Type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ΔH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GPS Multipath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(isolated)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Sharp drop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Spike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GNSS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GPS Signal Loss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 (multiple)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Zeros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 segment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GNSS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 Offset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(persistent)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Sustained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 Connectivity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 (local)+disconn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Junction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Healthy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 (&gt;0.5)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 (&gt;1.0)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88C50"/>
                </a:solidFill>
                <a:latin typeface="Calibri"/>
              </a:defRPr>
            </a:pPr>
            <a:r>
              <a:t>Combinational analysis of margin + ΔH allows fault-type diagnosis: distinguishes GPS faults from map faults.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 — Summary: Trustworthiness in CMM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Two complementary metrics capture different uncertainty dimensions: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Layer entropy/delta-entropy (instantaneous) + Sliding-window path margin (contextual)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Computationally tractable: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880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Beam-search (k=3) prevents exponential blowup — O(W·K²·k) per window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Diagnostically rich: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Combinational analysis of margin + ΔH classifies faults (GPS vs. map vs. both)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00600"/>
            <a:ext cx="54864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Safety enabling: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Trustworthiness thresholds let downstream systems decide confidence before acting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solidFill>
            <a:srgbClr val="0A1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ctr">
              <a:defRPr sz="1500" b="1">
                <a:solidFill>
                  <a:srgbClr val="F0BC20"/>
                </a:solidFill>
                <a:latin typeface="Calibri"/>
              </a:defRPr>
            </a:pPr>
            <a:r>
              <a:t>Takeaway: CMM's trustworthiness evaluation transforms map matching from a black-box decision into a quantified inference with per-epoch confidence bounds — essential for safety-critical applications.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